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2 — proposed solution and capabilities</a:t>
            </a:r>
          </a:p>
          <a:p>
            <a:r>
              <a:t>R4: Cryptographic binding to recipient identity — enrollment-bound recipient keys and an ML-DSA-signed canonical release event bind document, session, row and assurance mode; identity proofing and key custody remain deployment assumptions.</a:t>
            </a:r>
          </a:p>
          <a:p>
            <a:r>
              <a:t>R5: Recipient's own private signing key — ML-DSA receipt verification is implemented, but exclusive human custody is not established while demo keys remain local.</a:t>
            </a:r>
          </a:p>
          <a:p>
            <a:r>
              <a:t>R6: NIST PQC KEX/signatures — the fresh readiness check used real ML-KEM-768 and ML-DSA-65 through OpenSSL 3.6.4, with no classical fallback in the measured path; algorithm use does not certify the prototype.</a:t>
            </a:r>
          </a:p>
          <a:p>
            <a:r>
              <a:t>R9: Extract mark from leak — a supported clean PDF returns a signed source-copy session only when both channels corroborate; raster-only and inadequate-capacity PDF scores remain research leads with empty attribution.</a:t>
            </a:r>
          </a:p>
          <a:p>
            <a:r>
              <a:t>P5: The authority can reproduce both carriers for an already issued session without forging a new recipient receipt; exact source-copy evidence does not eliminate operator framing.</a:t>
            </a:r>
          </a:p>
          <a:p>
            <a:r>
              <a:t>P6: Removing both carriers or retyping content can leave readable material with no attribution signal.</a:t>
            </a:r>
          </a:p>
          <a:p>
            <a:r>
              <a:t>P7: The managed viewer can access authenticated clean plaintext before marking; publication is gated, but trusted software and endpoint control remain assumptions.</a:t>
            </a:r>
          </a:p>
          <a:p>
            <a:r>
              <a:t>P8: Extraction is non-blind and requires the retained original and correct source version.</a:t>
            </a:r>
          </a:p>
          <a:p>
            <a:r>
              <a:t>Source: research/evidence/nishan-selection-2026-09-12/demo/results.json.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3 — technical approach and release gates</a:t>
            </a:r>
          </a:p>
          <a:p>
            <a:r>
              <a:t>R7: Blockchain/DLT audit — the prototype implements a hash-linked, quorum-signed local 3-of-4 demonstrator; it is not independently administered blockchain infrastructure.</a:t>
            </a:r>
          </a:p>
          <a:p>
            <a:r>
              <a:t>R8: No single administrator can alter/delete history — NOT MET. All validator keys, replicas and witness material remain co-located. A configured pin helps only when the witness key and retained state are independently provisioned and trustworthy.</a:t>
            </a:r>
          </a:p>
          <a:p>
            <a:r>
              <a:t>R10: Ledger lookup — available valid records map rows to signed sessions. In configured witness mode, release rejects the tested wrong pin; release and trace both reject the tested coordinated valid-prefix rollback. Legacy unconfigured mode is explicitly unwitnessed.</a:t>
            </a:r>
          </a:p>
          <a:p>
            <a:r>
              <a:t>P1: The separate witness is now called on configured release and trace paths. It detects the tested rollback only while the pinned key and retained external state remain trusted; rolling back the witness too is outside the local guarantee.</a:t>
            </a:r>
          </a:p>
          <a:p>
            <a:r>
              <a:t>P2: Allocation race — corrected. The existing ledger transaction lock is held from history validation and row allocation through append, checkpoint and publication; fresh concurrent releases used distinct rows and a third release succeeded.</a:t>
            </a:r>
          </a:p>
          <a:p>
            <a:r>
              <a:t>P3: PDF policy — rendered/rasterized transplant now returns empty high-assurance attribution and retains only a research lead. Authenticated plaintext parsing prevents a metadata-only type bypass; renamed/prefixed PDFs cannot select generic-image handling.</a:t>
            </a:r>
          </a:p>
          <a:p>
            <a:r>
              <a:t>P4: Insufficient 126-symbol layout capacity now yields a signed capacity limitation and abstention rather than PDF attribution.</a:t>
            </a:r>
          </a:p>
          <a:p>
            <a:r>
              <a:t>P17: Configured witness enforcement is implemented and tested on release and trace; the default compatibility mode remains explicitly unwitnessed, and trace records a checked snapshot rather than perpetual freshness.</a:t>
            </a:r>
          </a:p>
          <a:p>
            <a:r>
              <a:t>P18: All PDF-source traces now require visual/layout set equality, including raster suspects and low-capacity releases. Genuine raster-image screening is preserved and remains a different, research-only assurance class.</a:t>
            </a:r>
          </a:p>
          <a:p>
            <a:r>
              <a:t>Release ordering: validate → allocate/mark → recipient-sign → quorum append/re-audit → checkpoint/re-verify → atomic publication. A checkpoint failure leaves a committed authorization but publishes no new output.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4 — feasibility, evidence separation and boundaries</a:t>
            </a:r>
          </a:p>
          <a:p>
            <a:r>
              <a:t>Fresh evidence: 12/12 named safeguard scenarios passed; all_passed=True; pqc_ready=True; 19 recorded SHA-256 entries match current files. These are scenario checks on public synthetic fixtures, not population experiments.</a:t>
            </a:r>
          </a:p>
          <a:p>
            <a:r>
              <a:t>P10: Physical evidence is historical shipped-threshold 0/4 and exploratory 1/4 in each profile, with the same akshay3 capture recovered in both—not two recovered captures. Latest akshay3 is 1827.334 vs 1096.290; baseline is 1709.941 vs 1097.482. akshay2 latest is 835.191 vs 1021.632; the first two refined-profile captures are boundary failures. This is one printed single-page public fixture, not end-to-end signed physical attribution.</a:t>
            </a:r>
          </a:p>
          <a:p>
            <a:r>
              <a:t>P11: The 30/30 end-to-end JPEG-Q55 runs use one recipient identity across 30 accumulated issued sessions (rows 0..29); other-issued score is null 1 time and non-null 29 times, not a multi-person test.</a:t>
            </a:r>
          </a:p>
          <a:p>
            <a:r>
              <a:t>P12: All 30 end-to-end trials reuse the same document, authority secret and codebook; no independent-document or independent-authority inference follows.</a:t>
            </a:r>
          </a:p>
          <a:p>
            <a:r>
              <a:t>P13: The 30-codebook × 4-strategy study has 120 code-level cases; it is not carrier, PDF or physical evidence.</a:t>
            </a:r>
          </a:p>
          <a:p>
            <a:r>
              <a:t>P14: Signed-PDF preservation is an expected compatibility issue because changed bytes normally invalidate signatures; damage to tagged PDF structure is untested, not demonstrated.</a:t>
            </a:r>
          </a:p>
          <a:p>
            <a:r>
              <a:t>P15: Main published experiments are single-page. Page loops exist in code, but there is no validated multi-page benchmark.</a:t>
            </a:r>
          </a:p>
          <a:p>
            <a:r>
              <a:t>P16: This selection update corrects deck, notes, verifier, paste-ready prose and runbook semantics; historical evidence artifacts and prototype code are not rewritten by Task 2.</a:t>
            </a:r>
          </a:p>
          <a:p>
            <a:r>
              <a:t>P19: Registration and 1,000-row scoring do not prove photo robustness; physical synchronization and useful capacity remain unresolved.</a:t>
            </a:r>
          </a:p>
          <a:p>
            <a:r>
              <a:t>P20: Co-located validator and witness administration remains a material limitation; the local quorum is not administrator-resistant DLT.</a:t>
            </a:r>
          </a:p>
          <a:p>
            <a:r>
              <a:t>P21: No Git repository was initialized. Local version history and publishing are distinct actions; controller backups are retained.</a:t>
            </a:r>
          </a:p>
          <a:p>
            <a:r>
              <a:t>Feasibility context (unnumbered): a confirmed six-person team has an existing offline laptop prototype, repeatable tests and saved evidence; neither GPU nor ESP32 is required for this measured workflow.</a:t>
            </a:r>
          </a:p>
          <a:p>
            <a:r>
              <a:t>Sources: demo/results.json; artifacts/nishan/end-to-end-jpeg-trials.json; artifacts/nishan/tardos-independent-codebook-study.json; research/evidence/nishan-bias-physical-2026-09-10/scores.json.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5 — impact, judge demo and next-round gates</a:t>
            </a:r>
          </a:p>
          <a:p>
            <a:r>
              <a:t>R11: Verifiable associated recipient/event — signature and ledger checks support a source-copy/session association; authority framing and copy-to-human inference limits remain.</a:t>
            </a:r>
          </a:p>
          <a:p>
            <a:r>
              <a:t>R12: Offline/air-gapped operation — demonstrated in a local architecture, not an audited hardened deployment.</a:t>
            </a:r>
          </a:p>
          <a:p>
            <a:r>
              <a:t>R13: No cloud KMS — the implemented workflow has no required external KMS dependency.</a:t>
            </a:r>
          </a:p>
          <a:p>
            <a:r>
              <a:t>R14: No public blockchain — the local demonstrator has no public-chain dependency.</a:t>
            </a:r>
          </a:p>
          <a:p>
            <a:r>
              <a:t>P9: Evidence identifies a released session/copy association, not which human intentionally disclosed it, received it successfully or read it.</a:t>
            </a:r>
          </a:p>
          <a:p>
            <a:r>
              <a:t>Five-minute judge flow: create a fresh demo output root; issue two recipients plus a repeated/third session; trace a clean PDF; show raster transplant and low-capacity PDF abstention; show wrong-pin release rejection and rollback rejection on both release and trace; inject checkpoint failure and show no new publication while explaining the committed authorization record.</a:t>
            </a:r>
          </a:p>
          <a:p>
            <a:r>
              <a:t>Next-round validation is narrow: independent administrative/key custody; larger multi-recipient and multi-page corpus; representative held-out print/camera testing; and a portable independent proof verifier. Neither GPU nor ESP32 is required for the measured workflow.</a:t>
            </a:r>
          </a:p>
          <a:p>
            <a:r>
              <a:t>Do not publish or reuse demo private keys. The runbook names new output roots and preserves historical evidence.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6 — prior art, references and differentiated integration</a:t>
            </a:r>
          </a:p>
          <a:p>
            <a:r>
              <a:t>P23: The stray file '=4.11' is retained outside presentation scope because this update is non-destructive; it was not silently deleted.</a:t>
            </a:r>
          </a:p>
          <a:p>
            <a:r>
              <a:t>P24: Novelty is unestablished. The engineering contribution is the tested integration of PQ-signed marked release, configured pinned-checkpoint gating and conservative two-channel PDF evidence. No component-level invention, competitor superiority or winning-probability claim is made. TRACE concerns LLM-agent trajectories and is omitted from scarce visible slide space.</a:t>
            </a:r>
          </a:p>
          <a:p>
            <a:r>
              <a:t>Parameter context (unnumbered): current n=1000,c=5,epsilon=1e-6 gives m=52500; roster-only n=20 gives m=42500; n=20,c=4,epsilon=1e-3 gives m=16000 but changes three assumptions. Rows are sessions. Ideal symmetric m=12331 is a separate audit requiring another decoder and implementation proof, not physical evidence or novelty.</a:t>
            </a:r>
          </a:p>
          <a:p>
            <a:r>
              <a:t>The recovered Sol Ultra session supplies no preserved authenticator probe artifacts, environment hashes or independently controlled secrets. Its adaptive strength-3 exact verifier recovered 3/5 after five-copy JPEG and failed perspective/10% crop; none of those numeric or recipient-controlled security claims are current deck evidence.</a:t>
            </a:r>
          </a:p>
          <a:p>
            <a:r>
              <a:t>URLs: https://www.sih.gov.in/sih2026PS ; https://csrc.nist.gov/pubs/fips/203/final ; https://csrc.nist.gov/pubs/fips/204/final ; https://www.cs.columbia.edu/cg/fontcode/ ; https://arxiv.org/abs/2010.06571 ; https://www.renyi.hu/~tardos/fingerprint.pdf.</a:t>
            </a:r>
          </a:p>
          <a:p>
            <a:r>
              <a:t>Evidence paths: artifacts/nishan/measured-results.json; artifacts/nishan/tardos-pdf-benchmark.json; artifacts/nishan/tardos-independent-codebook-study.json; artifacts/nishan/end-to-end-jpeg-trials.json; research/evidence/nishan-bias-physical-2026-09-10/scores.json.</a:t>
            </a:r>
          </a:p>
          <a:p>
            <a:r>
              <a:t>Team ID: [ENTER TEAM ID]; team name: [ENTER REGISTERED TEAM NAME]; repository: [INSERT PUBLIC REPOSITORY LINK BEFORE UPLOAD]. Status date: 12 September 2026. Selection deadline supplied by the team: 15 September. This is a tested research prototype, not production certification or a competition-outcome claim.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value proposition and scope</a:t>
            </a:r>
          </a:p>
          <a:p>
            <a:r>
              <a:t>Team ID: [ENTER TEAM ID]; team name: [ENTER REGISTERED TEAM NAME]; repository: [INSERT PUBLIC REPOSITORY LINK BEFORE UPLOAD]. Status date: 12 September 2026. Selection deadline supplied by the team: 15 September. This is a tested research prototype, not production certification or a competition-outcome claim.</a:t>
            </a:r>
          </a:p>
          <a:p>
            <a:r>
              <a:t>R1: Unique invisible watermark at decryption — the controlled release path generates a marked, signed session copy before publication; the managed-process and authority-framing boundaries remain.</a:t>
            </a:r>
          </a:p>
          <a:p>
            <a:r>
              <a:t>R2: Recipient/session specificity — transaction-wide serialization now covers history validation, row allocation, signing, append, checkpoint and publication; the fresh concurrent scenario produced distinct rows and a later row 2.</a:t>
            </a:r>
          </a:p>
          <a:p>
            <a:r>
              <a:t>R3: Visually identical / forensically distinct — 5 one-page PDFs preserve extracted text and average 41.87 dB rendered PSNR; PDFs are not byte-identical, and this was not a human invisibility study.</a:t>
            </a:r>
          </a:p>
          <a:p>
            <a:r>
              <a:t>P22: Team ID, registered team name and repository URL remain explicit placeholders unless supplied through the build CLI; strict verification then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042415"/>
            <a:ext cx="61447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1F33"/>
                </a:solidFill>
                <a:latin typeface="Liberation Sans"/>
              </a:rPr>
              <a:t>NISHAN-PQ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61264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E73"/>
                </a:solidFill>
                <a:latin typeface="Liberation Sans"/>
              </a:rPr>
              <a:t>Accountable decryption.
Verifiable source-copy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41448"/>
            <a:ext cx="596188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172A3A"/>
                </a:solidFill>
                <a:latin typeface="Liberation Sans"/>
              </a:rPr>
              <a:t>When a protected copy leaks, connect it to a signed release session—or return inconclusive.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999232"/>
            <a:ext cx="6144768" cy="2660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18688"/>
            <a:ext cx="210312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17386"/>
                </a:solidFill>
                <a:latin typeface="Liberation Sans"/>
              </a:rPr>
              <a:t>PROBLEM STATEMENT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209544"/>
            <a:ext cx="349300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172A3A"/>
                </a:solidFill>
                <a:latin typeface="Liberation Sans"/>
              </a:rPr>
              <a:t>SIH26237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75304"/>
            <a:ext cx="210312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17386"/>
                </a:solidFill>
                <a:latin typeface="Liberation Sans"/>
              </a:rPr>
              <a:t>PROBLEM STATEMENT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566160"/>
            <a:ext cx="349300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72A3A"/>
                </a:solidFill>
                <a:latin typeface="Liberation Sans"/>
              </a:rPr>
              <a:t>Cryptographic Attribution and Immutable Decryption Provenance for Multi-Recipient Encrypted Document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24528"/>
            <a:ext cx="210312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17386"/>
                </a:solidFill>
                <a:latin typeface="Liberation Sans"/>
              </a:rPr>
              <a:t>THEME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4215384"/>
            <a:ext cx="349300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172A3A"/>
                </a:solidFill>
                <a:latin typeface="Liberation Sans"/>
              </a:rPr>
              <a:t>Blockchain &amp; Cybersecurity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81144"/>
            <a:ext cx="210312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17386"/>
                </a:solidFill>
                <a:latin typeface="Liberation Sans"/>
              </a:rPr>
              <a:t>PS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4572000"/>
            <a:ext cx="349300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172A3A"/>
                </a:solidFill>
                <a:latin typeface="Liberation Sans"/>
              </a:rPr>
              <a:t>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37759"/>
            <a:ext cx="210312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17386"/>
                </a:solidFill>
                <a:latin typeface="Liberation Sans"/>
              </a:rPr>
              <a:t>TEAM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4928616"/>
            <a:ext cx="349300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D95555"/>
                </a:solidFill>
                <a:latin typeface="Liberation Sans"/>
              </a:rPr>
              <a:t>[ENTER TEAM ID]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94375"/>
            <a:ext cx="210312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17386"/>
                </a:solidFill>
                <a:latin typeface="Liberation Sans"/>
              </a:rPr>
              <a:t>TEAM NAME (REGISTERED ON PORTAL)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5285231"/>
            <a:ext cx="349300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D95555"/>
                </a:solidFill>
                <a:latin typeface="Liberation Sans"/>
              </a:rPr>
              <a:t>[ENTER REGISTERED TEAM NAME]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216152"/>
            <a:ext cx="4187952" cy="449884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581912"/>
            <a:ext cx="1993392" cy="2670048"/>
          </a:xfrm>
          <a:prstGeom prst="rect">
            <a:avLst/>
          </a:prstGeom>
          <a:solidFill>
            <a:srgbClr val="FFFFFF"/>
          </a:solidFill>
          <a:ln w="20320">
            <a:solidFill>
              <a:srgbClr val="24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Triangle 26"/>
          <p:cNvSpPr/>
          <p:nvPr/>
        </p:nvSpPr>
        <p:spPr>
          <a:xfrm rot="10800000">
            <a:off x="9692640" y="1581912"/>
            <a:ext cx="530352" cy="530352"/>
          </a:xfrm>
          <a:prstGeom prst="rtTriangle">
            <a:avLst/>
          </a:prstGeom>
          <a:solidFill>
            <a:srgbClr val="E8F7F4"/>
          </a:solidFill>
          <a:ln>
            <a:solidFill>
              <a:srgbClr val="24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103120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95555"/>
                </a:solidFill>
                <a:latin typeface="Liberation Sans"/>
              </a:rPr>
              <a:t>RESTRICTED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0496" y="2670048"/>
            <a:ext cx="1143000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0496" y="2926080"/>
            <a:ext cx="1353312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0496" y="3182112"/>
            <a:ext cx="960120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0496" y="3438144"/>
            <a:ext cx="1261872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c 32"/>
          <p:cNvSpPr/>
          <p:nvPr/>
        </p:nvSpPr>
        <p:spPr>
          <a:xfrm>
            <a:off x="8814816" y="2962656"/>
            <a:ext cx="658368" cy="822960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c 33"/>
          <p:cNvSpPr/>
          <p:nvPr/>
        </p:nvSpPr>
        <p:spPr>
          <a:xfrm>
            <a:off x="8741664" y="2889504"/>
            <a:ext cx="804672" cy="969264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c 34"/>
          <p:cNvSpPr/>
          <p:nvPr/>
        </p:nvSpPr>
        <p:spPr>
          <a:xfrm>
            <a:off x="8668512" y="2816352"/>
            <a:ext cx="950976" cy="1115568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c 35"/>
          <p:cNvSpPr/>
          <p:nvPr/>
        </p:nvSpPr>
        <p:spPr>
          <a:xfrm>
            <a:off x="8595360" y="2743200"/>
            <a:ext cx="1097280" cy="1261872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35240" y="1828800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V1</a:t>
            </a:r>
          </a:p>
        </p:txBody>
      </p:sp>
      <p:sp>
        <p:nvSpPr>
          <p:cNvPr id="39" name="Oval 38"/>
          <p:cNvSpPr/>
          <p:nvPr/>
        </p:nvSpPr>
        <p:spPr>
          <a:xfrm>
            <a:off x="10488168" y="1847088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88168" y="1847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V2</a:t>
            </a:r>
          </a:p>
        </p:txBody>
      </p:sp>
      <p:sp>
        <p:nvSpPr>
          <p:cNvPr id="41" name="Oval 40"/>
          <p:cNvSpPr/>
          <p:nvPr/>
        </p:nvSpPr>
        <p:spPr>
          <a:xfrm>
            <a:off x="7662672" y="4526280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62672" y="452628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V3</a:t>
            </a:r>
          </a:p>
        </p:txBody>
      </p:sp>
      <p:sp>
        <p:nvSpPr>
          <p:cNvPr id="43" name="Oval 42"/>
          <p:cNvSpPr/>
          <p:nvPr/>
        </p:nvSpPr>
        <p:spPr>
          <a:xfrm>
            <a:off x="10469880" y="4498848"/>
            <a:ext cx="493776" cy="493776"/>
          </a:xfrm>
          <a:prstGeom prst="ellipse">
            <a:avLst/>
          </a:prstGeom>
          <a:solidFill>
            <a:srgbClr val="61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9880" y="449884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00416" y="5074920"/>
            <a:ext cx="2980944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0416" y="5084064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RESEARCH PROTOTYPE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26096" y="5486400"/>
            <a:ext cx="3511296" cy="310896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6096" y="5495544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7A5100"/>
                </a:solidFill>
                <a:latin typeface="Liberation Sans"/>
              </a:rPr>
              <a:t>FRESH SAFEGUARDS · 12/12 · REAL PQC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45552" y="5824728"/>
            <a:ext cx="30540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17386"/>
                </a:solidFill>
                <a:latin typeface="Liberation Sans"/>
              </a:rPr>
              <a:t>Evidence status · 12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IDEA TITLE / PROPOSED 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768096"/>
            <a:ext cx="7315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87E73"/>
                </a:solidFill>
                <a:latin typeface="Liberation Sans"/>
              </a:rPr>
              <a:t>One encrypted source. Signed, session-specific releases.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1353312"/>
            <a:ext cx="3493008" cy="19476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536192"/>
            <a:ext cx="493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B8A6"/>
                </a:solidFill>
                <a:latin typeface="Liberation San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1563624"/>
            <a:ext cx="2468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B1F33"/>
                </a:solidFill>
                <a:latin typeface="Liberation Sans"/>
              </a:rPr>
              <a:t>Session-specific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057400"/>
            <a:ext cx="3072384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A3A"/>
                </a:solidFill>
                <a:latin typeface="Liberation Sans"/>
              </a:rPr>
              <a:t>Serialized row + session allocation. Marked output is signed before publication.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353312"/>
            <a:ext cx="3493008" cy="19476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536192"/>
            <a:ext cx="493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57A"/>
                </a:solidFill>
                <a:latin typeface="Liberation San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1563624"/>
            <a:ext cx="2468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B1F33"/>
                </a:solidFill>
                <a:latin typeface="Liberation Sans"/>
              </a:rPr>
              <a:t>Commit before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057400"/>
            <a:ext cx="3072384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A3A"/>
                </a:solidFill>
                <a:latin typeface="Liberation Sans"/>
              </a:rPr>
              <a:t>ML-DSA receipt enters the local 3-of-4 log. Configured mode checks signed witness state under a caller-provisioned key pin.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353312"/>
            <a:ext cx="3493008" cy="19476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36192"/>
            <a:ext cx="493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B942"/>
                </a:solidFill>
                <a:latin typeface="Liberation San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1563624"/>
            <a:ext cx="2468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B1F33"/>
                </a:solidFill>
                <a:latin typeface="Liberation Sans"/>
              </a:rPr>
              <a:t>Conservative trace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057400"/>
            <a:ext cx="3072384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A3A"/>
                </a:solidFill>
                <a:latin typeface="Liberation Sans"/>
              </a:rPr>
              <a:t>Clean PDFs need two-channel agreement. Missing evidence produces a lead or inconclusive result.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584448"/>
            <a:ext cx="11027664" cy="1417320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785615"/>
            <a:ext cx="10588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617386"/>
                </a:solidFill>
                <a:latin typeface="Liberation Sans"/>
              </a:rPr>
              <a:t>CONTROLLED RELEASE →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78808"/>
            <a:ext cx="187451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242816"/>
            <a:ext cx="1728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F33"/>
                </a:solidFill>
                <a:latin typeface="Liberation Sans"/>
              </a:rPr>
              <a:t>Encrypt once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471416"/>
            <a:ext cx="172821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17386"/>
                </a:solidFill>
                <a:latin typeface="Liberation Sans"/>
              </a:rPr>
              <a:t>AES-256-GCM</a:t>
            </a:r>
          </a:p>
        </p:txBody>
      </p:sp>
      <p:sp>
        <p:nvSpPr>
          <p:cNvPr id="33" name="Chevron 32"/>
          <p:cNvSpPr/>
          <p:nvPr/>
        </p:nvSpPr>
        <p:spPr>
          <a:xfrm>
            <a:off x="2752344" y="4325112"/>
            <a:ext cx="146304" cy="22860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53512" y="4178808"/>
            <a:ext cx="187451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26664" y="4242816"/>
            <a:ext cx="1728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F33"/>
                </a:solidFill>
                <a:latin typeface="Liberation Sans"/>
              </a:rPr>
              <a:t>Wrap 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6664" y="4471416"/>
            <a:ext cx="172821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17386"/>
                </a:solidFill>
                <a:latin typeface="Liberation Sans"/>
              </a:rPr>
              <a:t>ML-KEM-768</a:t>
            </a:r>
          </a:p>
        </p:txBody>
      </p:sp>
      <p:sp>
        <p:nvSpPr>
          <p:cNvPr id="37" name="Chevron 36"/>
          <p:cNvSpPr/>
          <p:nvPr/>
        </p:nvSpPr>
        <p:spPr>
          <a:xfrm>
            <a:off x="4882896" y="4325112"/>
            <a:ext cx="146304" cy="22860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84064" y="4178808"/>
            <a:ext cx="187451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57216" y="4242816"/>
            <a:ext cx="1728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F33"/>
                </a:solidFill>
                <a:latin typeface="Liberation Sans"/>
              </a:rPr>
              <a:t>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7216" y="4471416"/>
            <a:ext cx="172821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17386"/>
                </a:solidFill>
                <a:latin typeface="Liberation Sans"/>
              </a:rPr>
              <a:t>visual + layout</a:t>
            </a:r>
          </a:p>
        </p:txBody>
      </p:sp>
      <p:sp>
        <p:nvSpPr>
          <p:cNvPr id="41" name="Chevron 40"/>
          <p:cNvSpPr/>
          <p:nvPr/>
        </p:nvSpPr>
        <p:spPr>
          <a:xfrm>
            <a:off x="7013448" y="4325112"/>
            <a:ext cx="146304" cy="22860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14616" y="4178808"/>
            <a:ext cx="187451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87768" y="4242816"/>
            <a:ext cx="1728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F33"/>
                </a:solidFill>
                <a:latin typeface="Liberation Sans"/>
              </a:rPr>
              <a:t>Sign + commit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7768" y="4471416"/>
            <a:ext cx="172821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17386"/>
                </a:solidFill>
                <a:latin typeface="Liberation Sans"/>
              </a:rPr>
              <a:t>ML-DSA-65</a:t>
            </a:r>
          </a:p>
        </p:txBody>
      </p:sp>
      <p:sp>
        <p:nvSpPr>
          <p:cNvPr id="45" name="Chevron 44"/>
          <p:cNvSpPr/>
          <p:nvPr/>
        </p:nvSpPr>
        <p:spPr>
          <a:xfrm>
            <a:off x="9144000" y="4325112"/>
            <a:ext cx="146304" cy="22860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45168" y="4178808"/>
            <a:ext cx="187451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4242816"/>
            <a:ext cx="1728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F33"/>
                </a:solidFill>
                <a:latin typeface="Liberation Sans"/>
              </a:rPr>
              <a:t>Trace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4471416"/>
            <a:ext cx="172821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17386"/>
                </a:solidFill>
                <a:latin typeface="Liberation Sans"/>
              </a:rPr>
              <a:t>attribute / abstain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" y="5276088"/>
            <a:ext cx="11027664" cy="44805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" y="5376672"/>
            <a:ext cx="106619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87E73"/>
                </a:solidFill>
                <a:latin typeface="Liberation Sans"/>
              </a:rPr>
              <a:t>Outcome: verifiable source-copy evidence—not a claim about which human disclosed the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TECHNICAL APPROACH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768096"/>
            <a:ext cx="8961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87E73"/>
                </a:solidFill>
                <a:latin typeface="Liberation Sans"/>
              </a:rPr>
              <a:t>Commit and witness before release (configured mode)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07008"/>
            <a:ext cx="11137392" cy="340156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1380744"/>
            <a:ext cx="2542032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138988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MANAGED-PROCESS TRUST BOUNDARY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380744"/>
            <a:ext cx="2962656" cy="310896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389888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A5100"/>
                </a:solidFill>
                <a:latin typeface="Liberation Sans"/>
              </a:rPr>
              <a:t>CO-LOCATED VALIDATORS + WITNESS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1901952"/>
            <a:ext cx="157276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199339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2313432"/>
            <a:ext cx="13898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package + ledger
+ pinned state</a:t>
            </a:r>
          </a:p>
        </p:txBody>
      </p:sp>
      <p:sp>
        <p:nvSpPr>
          <p:cNvPr id="25" name="Chevron 24"/>
          <p:cNvSpPr/>
          <p:nvPr/>
        </p:nvSpPr>
        <p:spPr>
          <a:xfrm>
            <a:off x="2386584" y="2249424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60320" y="1901952"/>
            <a:ext cx="157276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199339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Allocate + 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2313432"/>
            <a:ext cx="13898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serialized row/session
visual + layout</a:t>
            </a:r>
          </a:p>
        </p:txBody>
      </p:sp>
      <p:sp>
        <p:nvSpPr>
          <p:cNvPr id="29" name="Chevron 28"/>
          <p:cNvSpPr/>
          <p:nvPr/>
        </p:nvSpPr>
        <p:spPr>
          <a:xfrm>
            <a:off x="4197096" y="2249424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70832" y="1901952"/>
            <a:ext cx="157276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199339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Recipient 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2313432"/>
            <a:ext cx="13898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ML-DSA-65
release receipt</a:t>
            </a:r>
          </a:p>
        </p:txBody>
      </p:sp>
      <p:sp>
        <p:nvSpPr>
          <p:cNvPr id="33" name="Chevron 32"/>
          <p:cNvSpPr/>
          <p:nvPr/>
        </p:nvSpPr>
        <p:spPr>
          <a:xfrm>
            <a:off x="6007608" y="2249424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81344" y="1901952"/>
            <a:ext cx="157276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3" y="199339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Quorum append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3" y="2313432"/>
            <a:ext cx="13898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3-of-4 local log
then re-audit</a:t>
            </a:r>
          </a:p>
        </p:txBody>
      </p:sp>
      <p:sp>
        <p:nvSpPr>
          <p:cNvPr id="37" name="Chevron 36"/>
          <p:cNvSpPr/>
          <p:nvPr/>
        </p:nvSpPr>
        <p:spPr>
          <a:xfrm>
            <a:off x="7818120" y="2249424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91856" y="1901952"/>
            <a:ext cx="157276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3296" y="199339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Checkpoint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2313432"/>
            <a:ext cx="13898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verify actual key pin
+ signed head</a:t>
            </a:r>
          </a:p>
        </p:txBody>
      </p:sp>
      <p:sp>
        <p:nvSpPr>
          <p:cNvPr id="41" name="Chevron 40"/>
          <p:cNvSpPr/>
          <p:nvPr/>
        </p:nvSpPr>
        <p:spPr>
          <a:xfrm>
            <a:off x="9628632" y="2249424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802368" y="1901952"/>
            <a:ext cx="157276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93808" y="199339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Publish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2313432"/>
            <a:ext cx="13898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atomic replace
marked copy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1600" y="3246120"/>
            <a:ext cx="9473184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09344" y="3401568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TRACE PATH · READ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3364992"/>
            <a:ext cx="689457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72A3A"/>
                </a:solidFill>
                <a:latin typeface="Liberation Sans"/>
              </a:rPr>
              <a:t>retained source + suspect → PDF type guard → visual/layout agreement → signed session  |  otherwise INCONCLUSIVE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828032"/>
            <a:ext cx="6537960" cy="850392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" y="4974336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E73"/>
                </a:solidFill>
                <a:latin typeface="Liberation Sans"/>
              </a:rPr>
              <a:t>FAIL-CLOSED NOW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7168" y="4937760"/>
            <a:ext cx="43616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F33"/>
                </a:solidFill>
                <a:latin typeface="Liberation Sans"/>
              </a:rPr>
              <a:t>wrong pin (release) · rollback (release + trace) · raster/low-capacity attribution · checkpoint publication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6912" y="4828032"/>
            <a:ext cx="4352544" cy="850392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16368" y="4974336"/>
            <a:ext cx="138988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8A5D00"/>
                </a:solidFill>
                <a:latin typeface="Liberation Sans"/>
              </a:rPr>
              <a:t>BOUNDARY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9952" y="4919472"/>
            <a:ext cx="2633472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keys + replicas remain under one local administrator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FEASIBILITY AND VIABILITY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768096"/>
            <a:ext cx="8961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87E73"/>
                </a:solidFill>
                <a:latin typeface="Liberation Sans"/>
              </a:rPr>
              <a:t>Fresh safeguards first; historical visual results and physical evidence stay separate.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1252728"/>
            <a:ext cx="5687568" cy="4398264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1481328"/>
            <a:ext cx="1993392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0B1F33"/>
                </a:solidFill>
                <a:latin typeface="Liberation Sans"/>
              </a:rPr>
              <a:t>FRESH · CURRENT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1828800"/>
            <a:ext cx="20116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87E73"/>
                </a:solidFill>
                <a:latin typeface="Liberation Sans"/>
              </a:rPr>
              <a:t>12/12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1856231"/>
            <a:ext cx="3703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172A3A"/>
                </a:solidFill>
                <a:latin typeface="Liberation Sans"/>
              </a:rPr>
              <a:t>safeguard scenarios passed
59/59 final-code tests · real PQC · 19 hashes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560320"/>
            <a:ext cx="5138928" cy="1947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19">
                <a:solidFill>
                  <a:srgbClr val="15B8A6"/>
                </a:solidFill>
                <a:latin typeface="Liberation Sans"/>
              </a:rPr>
              <a:t>●  </a:t>
            </a:r>
            <a:r>
              <a:rPr sz="1220">
                <a:solidFill>
                  <a:srgbClr val="172A3A"/>
                </a:solidFill>
                <a:latin typeface="Liberation Sans"/>
              </a:rPr>
              <a:t>Serialized release: concurrent rows differ; next release succeeds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19">
                <a:solidFill>
                  <a:srgbClr val="15B8A6"/>
                </a:solidFill>
                <a:latin typeface="Liberation Sans"/>
              </a:rPr>
              <a:t>●  </a:t>
            </a:r>
            <a:r>
              <a:rPr sz="1220">
                <a:solidFill>
                  <a:srgbClr val="172A3A"/>
                </a:solidFill>
                <a:latin typeface="Liberation Sans"/>
              </a:rPr>
              <a:t>Pinned mode: wrong pin blocks release; rollback blocks release + trace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19">
                <a:solidFill>
                  <a:srgbClr val="15B8A6"/>
                </a:solidFill>
                <a:latin typeface="Liberation Sans"/>
              </a:rPr>
              <a:t>●  </a:t>
            </a:r>
            <a:r>
              <a:rPr sz="1220">
                <a:solidFill>
                  <a:srgbClr val="172A3A"/>
                </a:solidFill>
                <a:latin typeface="Liberation Sans"/>
              </a:rPr>
              <a:t>Checkpoint failure publishes nothing; existing output is preserved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19">
                <a:solidFill>
                  <a:srgbClr val="15B8A6"/>
                </a:solidFill>
                <a:latin typeface="Liberation Sans"/>
              </a:rPr>
              <a:t>●  </a:t>
            </a:r>
            <a:r>
              <a:rPr sz="1220">
                <a:solidFill>
                  <a:srgbClr val="172A3A"/>
                </a:solidFill>
                <a:latin typeface="Liberation Sans"/>
              </a:rPr>
              <a:t>Clean PDF corroborates; raster and low-capacity PDF abstain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617720"/>
            <a:ext cx="5138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87E73"/>
                </a:solidFill>
                <a:latin typeface="Liberation Sans"/>
              </a:rPr>
              <a:t>Six-person team · existing offline laptop prototype · repeatable saved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983480"/>
            <a:ext cx="5138928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992624"/>
            <a:ext cx="5138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Liberation Sans"/>
              </a:rPr>
              <a:t>SYNTHETIC OFFLINE SCENARIOS · NOT POPULATION EXPERIMENTS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252728"/>
            <a:ext cx="5184648" cy="1993392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1481328"/>
            <a:ext cx="468172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0B1F33"/>
                </a:solidFill>
                <a:latin typeface="Liberation Sans"/>
              </a:rPr>
              <a:t>HISTORICAL VISUAL FIXTURES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1901952"/>
            <a:ext cx="468172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8A5D00"/>
                </a:solidFill>
                <a:latin typeface="Liberation Sans"/>
              </a:rPr>
              <a:t>30/30 JPEG-Q55 visual-channel trials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2432304"/>
            <a:ext cx="468172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A3A"/>
                </a:solidFill>
                <a:latin typeface="Liberation Sans"/>
              </a:rPr>
              <a:t>One document/codebook; repeated sessions. 5 one-page PDFs retained text; mean PSNR 41.87 dB.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438144"/>
            <a:ext cx="5184648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3666744"/>
            <a:ext cx="468172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5555"/>
                </a:solidFill>
                <a:latin typeface="Liberation Sans"/>
              </a:rPr>
              <a:t>Physical recovery remains experimental: 0/4 at the shipped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4233672"/>
            <a:ext cx="468172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A3A"/>
                </a:solidFill>
                <a:latin typeface="Liberation Sans"/>
              </a:rPr>
              <a:t>Exploratory profiles recover the same 1/4 capture. No added capture; no robust physical claim.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4983480"/>
            <a:ext cx="46817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E73"/>
                </a:solidFill>
                <a:latin typeface="Liberation Sans"/>
              </a:rPr>
              <a:t>Digital PDF corroboration; raster-only matches are research leads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IMPACT AND BENEFITS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768096"/>
            <a:ext cx="90708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7E73"/>
                </a:solidFill>
                <a:latin typeface="Liberation Sans"/>
              </a:rPr>
              <a:t>A five-minute judge demo shows both the useful answer and the refusal to overclaim.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1252728"/>
            <a:ext cx="6446520" cy="4425696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1481328"/>
            <a:ext cx="593445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0B1F33"/>
                </a:solidFill>
                <a:latin typeface="Liberation Sans"/>
              </a:rPr>
              <a:t>JUDGE-DRIVEN DEMO · OFFLINE LAPTOP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" y="1874519"/>
            <a:ext cx="591616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2020824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87E73"/>
                </a:solidFill>
                <a:latin typeface="Liberation San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2002536"/>
            <a:ext cx="978408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0B1F33"/>
                </a:solidFill>
                <a:latin typeface="Liberation Sans"/>
              </a:rPr>
              <a:t>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8024" y="1984248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A3A"/>
                </a:solidFill>
                <a:latin typeface="Liberation Sans"/>
              </a:rPr>
              <a:t>Alice + Bob + repeated session → distinct rows and signed copy hashes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" y="2706624"/>
            <a:ext cx="591616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285292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87E73"/>
                </a:solidFill>
                <a:latin typeface="Liberation San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2834640"/>
            <a:ext cx="978408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0B1F33"/>
                </a:solidFill>
                <a:latin typeface="Liberation Sans"/>
              </a:rPr>
              <a:t>Associate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8024" y="2816352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A3A"/>
                </a:solidFill>
                <a:latin typeface="Liberation Sans"/>
              </a:rPr>
              <a:t>Clean PDF → two channels agree on one signed source copy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" y="3538728"/>
            <a:ext cx="591616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685032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87E73"/>
                </a:solidFill>
                <a:latin typeface="Liberation San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3666744"/>
            <a:ext cx="978408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0B1F33"/>
                </a:solidFill>
                <a:latin typeface="Liberation Sans"/>
              </a:rPr>
              <a:t>Abstain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8024" y="3648456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A3A"/>
                </a:solidFill>
                <a:latin typeface="Liberation Sans"/>
              </a:rPr>
              <a:t>Rendered transplant / short PDF → inconclusive; research lead retained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" y="4370832"/>
            <a:ext cx="591616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51713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87E73"/>
                </a:solidFill>
                <a:latin typeface="Liberation San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4498848"/>
            <a:ext cx="978408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0B1F33"/>
                </a:solidFill>
                <a:latin typeface="Liberation Sans"/>
              </a:rPr>
              <a:t>Block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78024" y="44805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A3A"/>
                </a:solidFill>
                <a:latin typeface="Liberation Sans"/>
              </a:rPr>
              <a:t>Wrong pin blocks release; rollback blocks release + trace; checkpoint fail publishes nothing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" y="5285232"/>
            <a:ext cx="5879592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5294376"/>
            <a:ext cx="58795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Liberation Sans"/>
              </a:rPr>
              <a:t>VALUE: A DEFENSIBLE SESSION LEAD—OR A DEFENSIBLE INCONCLUSIVE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14616" y="1252728"/>
            <a:ext cx="4416552" cy="195681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1481328"/>
            <a:ext cx="3904487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0B1F33"/>
                </a:solidFill>
                <a:latin typeface="Liberation Sans"/>
              </a:rPr>
              <a:t>OPERATIONAL BENEFIT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0648" y="1883664"/>
            <a:ext cx="3904487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4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40">
                <a:solidFill>
                  <a:srgbClr val="172A3A"/>
                </a:solidFill>
                <a:latin typeface="Liberation Sans"/>
              </a:rPr>
              <a:t>Air-gapped workflow; no cloud KMS or public chain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4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40">
                <a:solidFill>
                  <a:srgbClr val="172A3A"/>
                </a:solidFill>
                <a:latin typeface="Liberation Sans"/>
              </a:rPr>
              <a:t>Evidence tied to a release session, not a vague access log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4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40">
                <a:solidFill>
                  <a:srgbClr val="172A3A"/>
                </a:solidFill>
                <a:latin typeface="Liberation Sans"/>
              </a:rPr>
              <a:t>Explicit refusal when high-assurance evidence is missing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14616" y="3401568"/>
            <a:ext cx="4416552" cy="2276856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0648" y="3630168"/>
            <a:ext cx="3904487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Liberation Sans"/>
              </a:rPr>
              <a:t>NARROW SECOND-ROUND 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4023360"/>
            <a:ext cx="3904487" cy="12252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19">
                <a:solidFill>
                  <a:srgbClr val="F4B942"/>
                </a:solidFill>
                <a:latin typeface="Liberation Sans"/>
              </a:rPr>
              <a:t>●  </a:t>
            </a:r>
            <a:r>
              <a:rPr sz="1120">
                <a:solidFill>
                  <a:srgbClr val="172A3A"/>
                </a:solidFill>
                <a:latin typeface="Liberation Sans"/>
              </a:rPr>
              <a:t>Independent administrator + key custody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19">
                <a:solidFill>
                  <a:srgbClr val="F4B942"/>
                </a:solidFill>
                <a:latin typeface="Liberation Sans"/>
              </a:rPr>
              <a:t>●  </a:t>
            </a:r>
            <a:r>
              <a:rPr sz="1120">
                <a:solidFill>
                  <a:srgbClr val="172A3A"/>
                </a:solidFill>
                <a:latin typeface="Liberation Sans"/>
              </a:rPr>
              <a:t>Larger multi-recipient, multi-page corpus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19">
                <a:solidFill>
                  <a:srgbClr val="F4B942"/>
                </a:solidFill>
                <a:latin typeface="Liberation Sans"/>
              </a:rPr>
              <a:t>●  </a:t>
            </a:r>
            <a:r>
              <a:rPr sz="1120">
                <a:solidFill>
                  <a:srgbClr val="172A3A"/>
                </a:solidFill>
                <a:latin typeface="Liberation Sans"/>
              </a:rPr>
              <a:t>Representative held-out print / camera tests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19">
                <a:solidFill>
                  <a:srgbClr val="F4B942"/>
                </a:solidFill>
                <a:latin typeface="Liberation Sans"/>
              </a:rPr>
              <a:t>●  </a:t>
            </a:r>
            <a:r>
              <a:rPr sz="1120">
                <a:solidFill>
                  <a:srgbClr val="172A3A"/>
                </a:solidFill>
                <a:latin typeface="Liberation Sans"/>
              </a:rPr>
              <a:t>Portable independent evidence verifier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0648" y="5330952"/>
            <a:ext cx="3904487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617386"/>
                </a:solidFill>
                <a:latin typeface="Liberation Sans"/>
              </a:rPr>
              <a:t>No GPU or ESP32 required for the measured demo.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RESEARCH AND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069848"/>
            <a:ext cx="5413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0B1F33"/>
                </a:solidFill>
                <a:latin typeface="Liberation Sans"/>
              </a:rPr>
              <a:t>PRIMARY SOURCES &amp; PRIOR ART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1481328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48132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1463040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Official SIH26237 problem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1682496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sih.gov.in/sih2026PS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2066544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0665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048256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NIST FIPS 203 / 204 — ML-KEM / ML-DSA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2267712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csrc.nist.gov/pubs/fips/203/final · /fips/204/final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2651760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6517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633472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FontCode — established glyph perturbation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2852928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cs.columbia.edu/cg/fontcode/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" y="3236976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2369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3218688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PQFabric — prior permissioned PQ ledger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438144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arXiv:2010.06571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" y="3822192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822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3803904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Tardos fingerprint codes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023360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renyi.hu/~tardos/fingerprint.pdf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" y="4407408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4074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389120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Saved fresh + historical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4608576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demo/results.json · artifacts/nishan/*.json · scores.json</a:t>
            </a:r>
          </a:p>
        </p:txBody>
      </p:sp>
      <p:sp>
        <p:nvSpPr>
          <p:cNvPr id="41" name="Oval 40"/>
          <p:cNvSpPr/>
          <p:nvPr/>
        </p:nvSpPr>
        <p:spPr>
          <a:xfrm>
            <a:off x="658368" y="4992624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99262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4974336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Public repository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193792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[INSERT PUBLIC REPOSITORY LINK BEFORE UPLOAD]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54496" y="1088136"/>
            <a:ext cx="5330952" cy="449884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1362456"/>
            <a:ext cx="480974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Liberation Sans"/>
              </a:rPr>
              <a:t>DIFFERENTIATED INTEGRATION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10528" y="1810512"/>
            <a:ext cx="48280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1696" y="1993392"/>
            <a:ext cx="442569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17386"/>
                </a:solidFill>
                <a:latin typeface="Liberation Sans"/>
              </a:rPr>
              <a:t>ESTABLISHED COMPONENTS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1696" y="2386584"/>
            <a:ext cx="4425696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A3A"/>
                </a:solidFill>
                <a:latin typeface="Liberation Sans"/>
              </a:rPr>
              <a:t>PQC standards, traitor-tracing codes, document marks and permissioned ledgers all have prior art.</a:t>
            </a:r>
          </a:p>
        </p:txBody>
      </p:sp>
      <p:sp>
        <p:nvSpPr>
          <p:cNvPr id="50" name="Chevron 49"/>
          <p:cNvSpPr/>
          <p:nvPr/>
        </p:nvSpPr>
        <p:spPr>
          <a:xfrm>
            <a:off x="8714232" y="3236976"/>
            <a:ext cx="329184" cy="265176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10528" y="3611880"/>
            <a:ext cx="4828032" cy="1490472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11696" y="3803904"/>
            <a:ext cx="442569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87E73"/>
                </a:solidFill>
                <a:latin typeface="Liberation Sans"/>
              </a:rPr>
              <a:t>ENGINEERING CONTRIBUTION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1696" y="4160520"/>
            <a:ext cx="4425696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0B1F33"/>
                </a:solidFill>
                <a:latin typeface="Liberation Sans"/>
              </a:rPr>
              <a:t>Tested integration of PQ-signed marked release, configured pinned-checkpoint gating and conservative two-channel PDF evidence.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28816" y="5230368"/>
            <a:ext cx="4773168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8816" y="5239512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Liberation Sans"/>
              </a:rPr>
              <a:t>INTEGRATION CLAIM · NOT A FIRST-EVER CLAIM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NISHAN-PQ — SIH26237 Idea Submission</dc:title>
  <dc:subject>Smart India Hackathon 2026</dc:subject>
  <dc:creator>[ENTER REGISTERED TEAM NAME]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
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2 — workflow and extraction evidence</a:t>
            </a:r>
          </a:p>
          <a:p>
            <a:r>
              <a:t>R9: Extract mark from leak — digital fixtures recover, while shipped physical evidence is historical 0/4 and experimental 1/4 per profile; this is not robust deployment.</a:t>
            </a:r>
          </a:p>
          <a:p>
            <a:r>
              <a:t>P10: Physical evidence is historical 0/4 and experimental 1/4 in each profile, with the same akshay3 capture recovered in both—not two recovered captures. Latest akshay3 is 1827.334 vs 1096.290; baseline is 1709.941 vs 1097.482. akshay2 latest is 835.191 vs 1021.632; neither first capture recovered, refinement adds no capture, and 2 boundary failures remain failures. These are visual-code-row results on one printed single-page public fixture, not end-to-end signed physical attribution or independent documents.</a:t>
            </a:r>
          </a:p>
          <a:p>
            <a:r>
              <a:t>P11: The 30/30 end-to-end JPEG-Q55 runs are one person across 30 accumulated issued sessions (rows 0..29); other-issued score is null once and non-null 29 times, not a 20-person test.</a:t>
            </a:r>
          </a:p>
          <a:p>
            <a:r>
              <a:t>P12: All 30 end-to-end trials reuse the same document, authority secret and codebook; no independent-document or independent-authority inference follows.</a:t>
            </a:r>
          </a:p>
          <a:p>
            <a:r>
              <a:t>P13: The 30-codebook × 4-strategy study has 120 code-level cases; it is not carrier, PDF or physical evidence.</a:t>
            </a:r>
          </a:p>
          <a:p>
            <a:r>
              <a:t>Digital context: all 1,000 rows were scored per session; 0 extra row was accused; mean 13433.337, population SD 128.216.</a:t>
            </a:r>
          </a:p>
          <a:p>
            <a:r>
              <a:t>Sources: artifacts/nishan/end-to-end-jpeg-trials.json; artifacts/nishan/tardos-independent-codebook-study.json; research/evidence/nishan-bias-physical-2026-09-10/scores.json.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3 — architecture, binding and audit limits</a:t>
            </a:r>
          </a:p>
          <a:p>
            <a:r>
              <a:t>R4: Cryptographic binding to recipient identity — enrollment-bound prototype receipts are checked; identity and key custody remain a deployment assumption.</a:t>
            </a:r>
          </a:p>
          <a:p>
            <a:r>
              <a:t>R5: Recipient's own private signing key — ML-DSA signing is demonstrated, but exclusive human custody of that key is unproven.</a:t>
            </a:r>
          </a:p>
          <a:p>
            <a:r>
              <a:t>R6: NIST PQC KEX/signatures — ML-KEM-768 and ML-DSA-65 are used, with no classical fallback in the measured path.</a:t>
            </a:r>
          </a:p>
          <a:p>
            <a:r>
              <a:t>R7: Blockchain/DLT audit — only a local, co-located 3-of-4 quorum demonstrator is implemented.</a:t>
            </a:r>
          </a:p>
          <a:p>
            <a:r>
              <a:t>R8: No single administrator can alter/delete history — NOT MET; independent key/peer custody and an enforced witness are absent.</a:t>
            </a:r>
          </a:p>
          <a:p>
            <a:r>
              <a:t>R10: Ledger lookup — implemented for available valid records, but coordinated valid-prefix rollback can erase the association unless the separate witness is consulted.</a:t>
            </a:r>
          </a:p>
          <a:p>
            <a:r>
              <a:t>P1: A separate witness detects the recorded rollback; trace/release do not enforce it, so integration alone does not prevent or recover deletion.</a:t>
            </a:r>
          </a:p>
          <a:p>
            <a:r>
              <a:t>P2: Allocation race — append locks start too late; protect the initial read through commit and avoid nested lock reacquisition.</a:t>
            </a:r>
          </a:p>
          <a:p>
            <a:r>
              <a:t>P3: A rasterized transplant bypasses layout corroboration; the parser already rejects renamed or prefixed PDF content masquerading as a raster/image.</a:t>
            </a:r>
          </a:p>
          <a:p>
            <a:r>
              <a:t>P4: Insufficient 126-symbol layout capacity disables that protection; shortness is only one cause. Fail/restrict release policy is proposed, not implemented.</a:t>
            </a:r>
          </a:p>
          <a:p>
            <a:r>
              <a:t>P5: The authority can regenerate both carriers for an existing signed session without forging a fresh recipient signature.</a:t>
            </a:r>
          </a:p>
          <a:p>
            <a:r>
              <a:t>P6: Removing both carriers leaves readable content and no attribution signal on the tested fixture.</a:t>
            </a:r>
          </a:p>
          <a:p>
            <a:r>
              <a:t>P7: The trusted viewer can access clean plaintext before marking; ordinary output is released only after commit.</a:t>
            </a:r>
          </a:p>
          <a:p>
            <a:r>
              <a:t>P8: Non-blind extraction requires the retained original and the correct version.</a:t>
            </a:r>
          </a:p>
          <a:p>
            <a:r>
              <a:t>P17: Witness capability remains a separate audit tool, not enforced trace-path protection.</a:t>
            </a:r>
          </a:p>
          <a:p>
            <a:r>
              <a:t>P18: Unconditional transplant-abstention is false for raster or low-capacity paths where layout corroboration is unavailable.</a:t>
            </a:r>
          </a:p>
          <a:p>
            <a:r>
              <a:t>Carrier correction (unnumbered): tardos_carrier.py uses fixed 6x6 Tardos templates; watermark.pattern() is not the carrier, and shorter code does not enlarge blocks.</a:t>
            </a:r>
          </a:p>
          <a:p>
            <a:r>
              <a:t>Sources: artifacts/nishan/measured-results.json; artifacts/nishan/tardos-pdf-benchmark.json.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4 — feasibility and unresolved risks</a:t>
            </a:r>
          </a:p>
          <a:p>
            <a:r>
              <a:t>R11: Verifiable associated recipient/event — signature checks work; authority framing and copy-to-human inference limits remain.</a:t>
            </a:r>
          </a:p>
          <a:p>
            <a:r>
              <a:t>P9: Evidence identifies a session/copy association, not which human intentionally leaked it.</a:t>
            </a:r>
          </a:p>
          <a:p>
            <a:r>
              <a:t>P14: Signed-PDF preservation is an expected compatibility issue because changed bytes normally invalidate signatures; damage to tagged PDF structure is untested, not demonstrated.</a:t>
            </a:r>
          </a:p>
          <a:p>
            <a:r>
              <a:t>P15: Main published experiments are single-page. Page loops exist in code, but there is no validated multi-page benchmark.</a:t>
            </a:r>
          </a:p>
          <a:p>
            <a:r>
              <a:t>P16: This task corrects PPT/PDF/verifier stale physical-pending wording only; other historical prose is not claimed updated.</a:t>
            </a:r>
          </a:p>
          <a:p>
            <a:r>
              <a:t>P19: Registration and 1,000-row scoring do not prove photo robustness; fine cell alignment and measured few-thousand-symbol physical capacity remain unresolved.</a:t>
            </a:r>
          </a:p>
          <a:p>
            <a:r>
              <a:t>P20: Co-located quorum is a real limitation and was already partly disclosed on slide 4; it is not administrator-resistant DLT.</a:t>
            </a:r>
          </a:p>
          <a:p>
            <a:r>
              <a:t>P21: No Git repository was initialized. Local version history and publishing are distinct actions; controller backups are retained.</a:t>
            </a:r>
          </a:p>
          <a:p>
            <a:r>
              <a:t>Additional limits: requiring current layout on every raster would lose legitimate screenshot/JPEG verdicts; no zero-operational-loss policy, 35 dB invisibility guarantee or population safety rate is claimed.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5 — operational value and remaining requirements</a:t>
            </a:r>
          </a:p>
          <a:p>
            <a:r>
              <a:t>R12: Offline/air-gapped operation — demonstrated in a local architecture, not an audited hardened deployment.</a:t>
            </a:r>
          </a:p>
          <a:p>
            <a:r>
              <a:t>R13: No cloud KMS — the implemented workflow has no required external KMS dependency.</a:t>
            </a:r>
          </a:p>
          <a:p>
            <a:r>
              <a:t>R14: No public blockchain — the local demonstrator has no public-chain dependency.</a:t>
            </a:r>
          </a:p>
          <a:p>
            <a:r>
              <a:t>Gate 1: security boundaries and claims. Gate 2: independent documents, keys, recipients, signed/tagged PDFs and negative attacks. Gate 3: held-out physical comparisons at matched visibility/security budgets.</a:t>
            </a:r>
          </a:p>
          <a:p>
            <a:r>
              <a:t>Required future scope: multi-page material, protected key custody, external checkpoints, release-bound policy and real printer/camera validation. This is investigative assistance, not operational accusation readiness.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Slide 6 — research boundary and sources</a:t>
            </a:r>
          </a:p>
          <a:p>
            <a:r>
              <a:t>P23: The stray file '=4.11' is retained outside presentation scope because this update is non-destructive; it was not silently deleted.</a:t>
            </a:r>
          </a:p>
          <a:p>
            <a:r>
              <a:t>P24: Novelty is unestablished. TRACE concerns trajectory watermarking, physical comparators already exist, and set equality has not been shown novel; no competitor-superiority or winning-probability inference is supported.</a:t>
            </a:r>
          </a:p>
          <a:p>
            <a:r>
              <a:t>Parameter context (unnumbered): current n=1000,c=5,epsilon=1e-6 gives m=52500; roster-only n=20 gives m=42500; n=20,c=4,epsilon=1e-3 gives m=16000 but changes three assumptions. Rows are sessions. Ideal symmetric m=12331 is a separate audit requiring another decoder and implementation proof, not physical evidence or novelty.</a:t>
            </a:r>
          </a:p>
          <a:p>
            <a:r>
              <a:t>Shorter-code and stronger/lower-frequency carrier ideas remain unvalidated hypotheses.</a:t>
            </a:r>
          </a:p>
          <a:p>
            <a:r>
              <a:t>URLs: https://www.sih.gov.in/sih2026PS ; https://arxiv.org/abs/2607.08400 (TRACE is LLM-agent trajectories, not direct PDF physical comparison) ; https://www.matthewtancik.com/stegastamp ; https://arxiv.org/abs/2304.12682 ; https://doi.org/10.1145/3494106.3528674 ; https://www.renyi.hu/~tardos/fingerprint.pdf ; https://doi.org/10.1109/49.464718 ; https://doi.org/10.1109/83.951542 ; https://doi.org/10.1109/ICIP.2001.958536 ; https://csrc.nist.gov/pubs/fips/203/final ; https://csrc.nist.gov/pubs/fips/204/final.</a:t>
            </a:r>
          </a:p>
          <a:p>
            <a:r>
              <a:t>Evidence paths: artifacts/nishan/measured-results.json; artifacts/nishan/tardos-pdf-benchmark.json; artifacts/nishan/tardos-independent-codebook-study.json; artifacts/nishan/end-to-end-jpeg-trials.json; research/evidence/nishan-bias-physical-2026-09-10/scores.json.</a:t>
            </a:r>
          </a:p>
          <a:p>
            <a:r>
              <a:t>Team ID: [ENTER TEAM ID]; team name: [ENTER REGISTERED TEAM NAME]; repository: [INSERT PUBLIC REPOSITORY LINK BEFORE UPLOAD]. Status date: 11 September 2026. This is an audit record, not marketing copy.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scope and official requirements</a:t>
            </a:r>
          </a:p>
          <a:p>
            <a:r>
              <a:t>Team ID: [ENTER TEAM ID]; team name: [ENTER REGISTERED TEAM NAME]; repository: [INSERT PUBLIC REPOSITORY LINK BEFORE UPLOAD]. Status date: 11 September 2026. This is an audit record, not marketing copy.</a:t>
            </a:r>
          </a:p>
          <a:p>
            <a:r>
              <a:t>R1: Unique invisible watermark at decryption — demonstrated on the controlled release path; the trusted viewer and allocation-race caveats remain.</a:t>
            </a:r>
          </a:p>
          <a:p>
            <a:r>
              <a:t>R2: Recipient/session specificity — each release has an explicit session and row; initial row allocation can still race.</a:t>
            </a:r>
          </a:p>
          <a:p>
            <a:r>
              <a:t>R3: Visually identical / forensically distinct — five PDFs preserve extracted text and average 41.87 dB PSNR; this is not universal invisibility.</a:t>
            </a:r>
          </a:p>
          <a:p>
            <a:r>
              <a:t>P22: Team ID, registered team name and repository URL remain explicit placeholders unless supplied through the build CLI; strict verification then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1097280"/>
            <a:ext cx="614476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1F33"/>
                </a:solidFill>
                <a:latin typeface="Liberation Sans"/>
              </a:rPr>
              <a:t>NISHAN-PQ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61264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87E73"/>
                </a:solidFill>
                <a:latin typeface="Liberation Sans"/>
              </a:rPr>
              <a:t>At-decryption session provenance for air-gapped documents.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267712"/>
            <a:ext cx="6144768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96312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PROBLEM STATEMENT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487168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72A3A"/>
                </a:solidFill>
                <a:latin typeface="Liberation Sans"/>
              </a:rPr>
              <a:t>SIH26237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26080"/>
            <a:ext cx="210312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PROBLEM STATEMENT TITLE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916936"/>
            <a:ext cx="34930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>
                <a:solidFill>
                  <a:srgbClr val="172A3A"/>
                </a:solidFill>
                <a:latin typeface="Liberation Sans"/>
              </a:rPr>
              <a:t>Cryptographic Attribution and Immutable Decryption Provenance for Multi-Recipient Encrypted Document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39312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3630168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72A3A"/>
                </a:solidFill>
                <a:latin typeface="Liberation Sans"/>
              </a:rPr>
              <a:t>Blockchain &amp; Cybersecurity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PS 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4059936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172A3A"/>
                </a:solidFill>
                <a:latin typeface="Liberation Sans"/>
              </a:rPr>
              <a:t>Software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498848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TEAM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4489704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D95555"/>
                </a:solidFill>
                <a:latin typeface="Liberation Sans"/>
              </a:rPr>
              <a:t>[ENTER TEAM ID]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28616"/>
            <a:ext cx="2103120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617386"/>
                </a:solidFill>
                <a:latin typeface="Liberation Sans"/>
              </a:rPr>
              <a:t>TEAM NAME (REGISTERED ON PORTAL)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4919472"/>
            <a:ext cx="3493008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D95555"/>
                </a:solidFill>
                <a:latin typeface="Liberation Sans"/>
              </a:rPr>
              <a:t>[ENTER REGISTERED TEAM NAME]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216152"/>
            <a:ext cx="4187952" cy="449884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581912"/>
            <a:ext cx="1993392" cy="2670048"/>
          </a:xfrm>
          <a:prstGeom prst="rect">
            <a:avLst/>
          </a:prstGeom>
          <a:solidFill>
            <a:srgbClr val="FFFFFF"/>
          </a:solidFill>
          <a:ln w="20320">
            <a:solidFill>
              <a:srgbClr val="24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Triangle 25"/>
          <p:cNvSpPr/>
          <p:nvPr/>
        </p:nvSpPr>
        <p:spPr>
          <a:xfrm rot="10800000">
            <a:off x="9692640" y="1581912"/>
            <a:ext cx="530352" cy="530352"/>
          </a:xfrm>
          <a:prstGeom prst="rtTriangle">
            <a:avLst/>
          </a:prstGeom>
          <a:solidFill>
            <a:srgbClr val="E8F7F4"/>
          </a:solidFill>
          <a:ln>
            <a:solidFill>
              <a:srgbClr val="24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2103120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95555"/>
                </a:solidFill>
                <a:latin typeface="Liberation Sans"/>
              </a:rPr>
              <a:t>RESTRICTED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0496" y="2670048"/>
            <a:ext cx="1143000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0496" y="2926080"/>
            <a:ext cx="1353312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0496" y="3182112"/>
            <a:ext cx="960120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0496" y="3438144"/>
            <a:ext cx="1261872" cy="59436"/>
          </a:xfrm>
          <a:prstGeom prst="rect">
            <a:avLst/>
          </a:prstGeom>
          <a:solidFill>
            <a:srgbClr val="DC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rc 31"/>
          <p:cNvSpPr/>
          <p:nvPr/>
        </p:nvSpPr>
        <p:spPr>
          <a:xfrm>
            <a:off x="8814816" y="2962656"/>
            <a:ext cx="658368" cy="822960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rc 32"/>
          <p:cNvSpPr/>
          <p:nvPr/>
        </p:nvSpPr>
        <p:spPr>
          <a:xfrm>
            <a:off x="8741664" y="2889504"/>
            <a:ext cx="804672" cy="969264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rc 33"/>
          <p:cNvSpPr/>
          <p:nvPr/>
        </p:nvSpPr>
        <p:spPr>
          <a:xfrm>
            <a:off x="8668512" y="2816352"/>
            <a:ext cx="950976" cy="1115568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c 34"/>
          <p:cNvSpPr/>
          <p:nvPr/>
        </p:nvSpPr>
        <p:spPr>
          <a:xfrm>
            <a:off x="8595360" y="2743200"/>
            <a:ext cx="1097280" cy="1261872"/>
          </a:xfrm>
          <a:prstGeom prst="arc">
            <a:avLst/>
          </a:prstGeom>
          <a:noFill/>
          <a:ln w="2794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35240" y="1828800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5240" y="182880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V1</a:t>
            </a:r>
          </a:p>
        </p:txBody>
      </p:sp>
      <p:sp>
        <p:nvSpPr>
          <p:cNvPr id="38" name="Oval 37"/>
          <p:cNvSpPr/>
          <p:nvPr/>
        </p:nvSpPr>
        <p:spPr>
          <a:xfrm>
            <a:off x="10488168" y="1847088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88168" y="184708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V2</a:t>
            </a:r>
          </a:p>
        </p:txBody>
      </p:sp>
      <p:sp>
        <p:nvSpPr>
          <p:cNvPr id="40" name="Oval 39"/>
          <p:cNvSpPr/>
          <p:nvPr/>
        </p:nvSpPr>
        <p:spPr>
          <a:xfrm>
            <a:off x="7662672" y="4526280"/>
            <a:ext cx="493776" cy="493776"/>
          </a:xfrm>
          <a:prstGeom prst="ellipse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62672" y="452628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V3</a:t>
            </a:r>
          </a:p>
        </p:txBody>
      </p:sp>
      <p:sp>
        <p:nvSpPr>
          <p:cNvPr id="42" name="Oval 41"/>
          <p:cNvSpPr/>
          <p:nvPr/>
        </p:nvSpPr>
        <p:spPr>
          <a:xfrm>
            <a:off x="10469880" y="4498848"/>
            <a:ext cx="493776" cy="493776"/>
          </a:xfrm>
          <a:prstGeom prst="ellipse">
            <a:avLst/>
          </a:prstGeom>
          <a:solidFill>
            <a:srgbClr val="61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4498848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Liberation Sans"/>
              </a:rPr>
              <a:t>V4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0416" y="5074920"/>
            <a:ext cx="2980944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00416" y="5084064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RESEARCH PROTOTYPE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90688" y="5486400"/>
            <a:ext cx="3200400" cy="310896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0688" y="54955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7A5100"/>
                </a:solidFill>
                <a:latin typeface="Liberation Sans"/>
              </a:rPr>
              <a:t>EVIDENCE UPDATE: 11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IDEA TITLE / PROPOSED SOLUTION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749808"/>
            <a:ext cx="94640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B1F33"/>
                </a:solidFill>
                <a:latin typeface="Liberation Sans"/>
              </a:rPr>
              <a:t>NISHAN-PQ  </a:t>
            </a:r>
            <a:r>
              <a:rPr sz="1300" b="1">
                <a:solidFill>
                  <a:srgbClr val="087E73"/>
                </a:solidFill>
                <a:latin typeface="Liberation Sans"/>
              </a:rPr>
              <a:t>Session-bound evidence with explicit abstention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1152144"/>
            <a:ext cx="1099108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>
                <a:solidFill>
                  <a:srgbClr val="172A3A"/>
                </a:solidFill>
                <a:latin typeface="Liberation Sans"/>
              </a:rPr>
              <a:t>Bind visual evidence + optional layout evidence + a recipient signature + a co-located quorum receipt to each released session.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" y="1664208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1792224"/>
            <a:ext cx="310896" cy="310896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Encrypt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167128"/>
            <a:ext cx="1801368" cy="4937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One AES-256-GCM ciphertext; no duplicate source files.</a:t>
            </a:r>
          </a:p>
        </p:txBody>
      </p:sp>
      <p:sp>
        <p:nvSpPr>
          <p:cNvPr id="22" name="Chevron 21"/>
          <p:cNvSpPr/>
          <p:nvPr/>
        </p:nvSpPr>
        <p:spPr>
          <a:xfrm>
            <a:off x="2688336" y="2093976"/>
            <a:ext cx="155448" cy="27432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52928" y="1664208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71800" y="1792224"/>
            <a:ext cx="310896" cy="310896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5848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Authorize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2167128"/>
            <a:ext cx="1801368" cy="4937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ML-KEM-768 wraps the same content key for each recipient.</a:t>
            </a:r>
          </a:p>
        </p:txBody>
      </p:sp>
      <p:sp>
        <p:nvSpPr>
          <p:cNvPr id="28" name="Chevron 27"/>
          <p:cNvSpPr/>
          <p:nvPr/>
        </p:nvSpPr>
        <p:spPr>
          <a:xfrm>
            <a:off x="4956048" y="2093976"/>
            <a:ext cx="155448" cy="27432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20640" y="1664208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39512" y="1792224"/>
            <a:ext cx="310896" cy="310896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9512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59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Dual mark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8655" y="2167128"/>
            <a:ext cx="1801368" cy="4937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Tardos rendering row + HMAC tag in live PDF text layout.</a:t>
            </a:r>
          </a:p>
        </p:txBody>
      </p:sp>
      <p:sp>
        <p:nvSpPr>
          <p:cNvPr id="34" name="Chevron 33"/>
          <p:cNvSpPr/>
          <p:nvPr/>
        </p:nvSpPr>
        <p:spPr>
          <a:xfrm>
            <a:off x="7223760" y="2093976"/>
            <a:ext cx="155448" cy="27432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388352" y="1664208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507224" y="1792224"/>
            <a:ext cx="310896" cy="310896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07224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1272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Sign + commit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8" y="2167128"/>
            <a:ext cx="1801368" cy="4937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Recipient ML-DSA receipt enters a 3-of-4 offline quorum.</a:t>
            </a:r>
          </a:p>
        </p:txBody>
      </p:sp>
      <p:sp>
        <p:nvSpPr>
          <p:cNvPr id="40" name="Chevron 39"/>
          <p:cNvSpPr/>
          <p:nvPr/>
        </p:nvSpPr>
        <p:spPr>
          <a:xfrm>
            <a:off x="9491472" y="2093976"/>
            <a:ext cx="155448" cy="274320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656064" y="1664208"/>
            <a:ext cx="205740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74936" y="1792224"/>
            <a:ext cx="310896" cy="310896"/>
          </a:xfrm>
          <a:prstGeom prst="ellipse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74936" y="179222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58984" y="1755648"/>
            <a:ext cx="144475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rgbClr val="0B1F33"/>
                </a:solidFill>
                <a:latin typeface="Liberation Sans"/>
              </a:rPr>
              <a:t>Trace or abstain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2167128"/>
            <a:ext cx="1801368" cy="49377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17386"/>
                </a:solidFill>
                <a:latin typeface="Liberation Sans"/>
              </a:rPr>
              <a:t>Check available channels; verify signed evidence.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2990088"/>
            <a:ext cx="5413248" cy="2496312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3200400"/>
            <a:ext cx="4919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Liberation Sans"/>
              </a:rPr>
              <a:t>DIGITAL DEVELOPMENT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3575304"/>
            <a:ext cx="49194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87E73"/>
                </a:solidFill>
                <a:latin typeface="Liberation Sans"/>
              </a:rPr>
              <a:t>30/30 exact JPEG-Q55 sessions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4050791"/>
            <a:ext cx="4901184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9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19">
                <a:solidFill>
                  <a:srgbClr val="172A3A"/>
                </a:solidFill>
                <a:latin typeface="Liberation Sans"/>
              </a:rPr>
              <a:t>All 1,000 rows scored; 0 extra rows accused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9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19">
                <a:solidFill>
                  <a:srgbClr val="172A3A"/>
                </a:solidFill>
                <a:latin typeface="Liberation Sans"/>
              </a:rPr>
              <a:t>Mean 13,433.337; population SD 128.216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9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19">
                <a:solidFill>
                  <a:srgbClr val="172A3A"/>
                </a:solidFill>
                <a:latin typeface="Liberation Sans"/>
              </a:rPr>
              <a:t>30 codebooks × 4 strategies = 120 code-level cases; not physical trials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81344" y="2990088"/>
            <a:ext cx="5413248" cy="2496312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8232" y="3200400"/>
            <a:ext cx="491947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Liberation Sans"/>
              </a:rPr>
              <a:t>REAL CAPTURES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28232" y="3575304"/>
            <a:ext cx="4919472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8A5D00"/>
                </a:solidFill>
                <a:latin typeface="Liberation Sans"/>
              </a:rPr>
              <a:t>Historical 0/4  ·  Experimental 1/4 per profile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28232" y="4050791"/>
            <a:ext cx="4901184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9">
                <a:solidFill>
                  <a:srgbClr val="F4B942"/>
                </a:solidFill>
                <a:latin typeface="Liberation Sans"/>
              </a:rPr>
              <a:t>●  </a:t>
            </a:r>
            <a:r>
              <a:rPr sz="1019">
                <a:solidFill>
                  <a:srgbClr val="172A3A"/>
                </a:solidFill>
                <a:latin typeface="Liberation Sans"/>
              </a:rPr>
              <a:t>Latest akshay3: 1,827.334 vs 1,096.290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9">
                <a:solidFill>
                  <a:srgbClr val="F4B942"/>
                </a:solidFill>
                <a:latin typeface="Liberation Sans"/>
              </a:rPr>
              <a:t>●  </a:t>
            </a:r>
            <a:r>
              <a:rPr sz="1019">
                <a:solidFill>
                  <a:srgbClr val="172A3A"/>
                </a:solidFill>
                <a:latin typeface="Liberation Sans"/>
              </a:rPr>
              <a:t>Same akshay3 capture recovered; refinement adds no capture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9">
                <a:solidFill>
                  <a:srgbClr val="F4B942"/>
                </a:solidFill>
                <a:latin typeface="Liberation Sans"/>
              </a:rPr>
              <a:t>●  </a:t>
            </a:r>
            <a:r>
              <a:rPr sz="1019">
                <a:solidFill>
                  <a:srgbClr val="172A3A"/>
                </a:solidFill>
                <a:latin typeface="Liberation Sans"/>
              </a:rPr>
              <a:t>Four captures · one printed single-page public fixture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19">
                <a:solidFill>
                  <a:srgbClr val="F4B942"/>
                </a:solidFill>
                <a:latin typeface="Liberation Sans"/>
              </a:rPr>
              <a:t>●  </a:t>
            </a:r>
            <a:r>
              <a:rPr sz="1019">
                <a:solidFill>
                  <a:srgbClr val="172A3A"/>
                </a:solidFill>
                <a:latin typeface="Liberation Sans"/>
              </a:rPr>
              <a:t>Visual code-row research; not signed end-to-end physical attribution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" y="5559552"/>
            <a:ext cx="106253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95555"/>
                </a:solidFill>
                <a:latin typeface="Liberation Sans"/>
              </a:rPr>
              <a:t>LIMIT: small, non-independent fixtures; these results are not a deployed reliability or population-safety guarantee.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TECHNICAL APPROACH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777240"/>
            <a:ext cx="8961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7E73"/>
                </a:solidFill>
                <a:latin typeface="Liberation Sans"/>
              </a:rPr>
              <a:t>Implemented path, trusted-process assumption and demonstrator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1188720"/>
            <a:ext cx="11137392" cy="2926080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1380744"/>
            <a:ext cx="2139696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1389888"/>
            <a:ext cx="21396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FFFFFF"/>
                </a:solidFill>
                <a:latin typeface="Liberation Sans"/>
              </a:rPr>
              <a:t>TRUSTED VIEWER PROCESS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30768" y="1380744"/>
            <a:ext cx="2761488" cy="310896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389888"/>
            <a:ext cx="27614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7A5100"/>
                </a:solidFill>
                <a:latin typeface="Liberation Sans"/>
              </a:rPr>
              <a:t>CO-LOCATED 3-OF-4 DEMONSTRATOR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1938528"/>
            <a:ext cx="1536192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2029968"/>
            <a:ext cx="13533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Sender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2350008"/>
            <a:ext cx="1353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AES-256-GCM
one ciphertext</a:t>
            </a:r>
          </a:p>
        </p:txBody>
      </p:sp>
      <p:sp>
        <p:nvSpPr>
          <p:cNvPr id="25" name="Chevron 24"/>
          <p:cNvSpPr/>
          <p:nvPr/>
        </p:nvSpPr>
        <p:spPr>
          <a:xfrm>
            <a:off x="2350008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523744" y="1938528"/>
            <a:ext cx="166420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2029968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Key envelopes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2350008"/>
            <a:ext cx="14813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ML-KEM-768
per recipient</a:t>
            </a:r>
          </a:p>
        </p:txBody>
      </p:sp>
      <p:sp>
        <p:nvSpPr>
          <p:cNvPr id="29" name="Chevron 28"/>
          <p:cNvSpPr/>
          <p:nvPr/>
        </p:nvSpPr>
        <p:spPr>
          <a:xfrm>
            <a:off x="4251960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25696" y="1938528"/>
            <a:ext cx="166420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2029968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Trusted viewer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17136" y="2350008"/>
            <a:ext cx="14813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decrypts first; Tardos +
optional layout tag</a:t>
            </a:r>
          </a:p>
        </p:txBody>
      </p:sp>
      <p:sp>
        <p:nvSpPr>
          <p:cNvPr id="33" name="Chevron 32"/>
          <p:cNvSpPr/>
          <p:nvPr/>
        </p:nvSpPr>
        <p:spPr>
          <a:xfrm>
            <a:off x="6153912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27648" y="1938528"/>
            <a:ext cx="166420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2029968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Signed receipt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2350008"/>
            <a:ext cx="14813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ML-DSA-65
enrollment-bound</a:t>
            </a:r>
          </a:p>
        </p:txBody>
      </p:sp>
      <p:sp>
        <p:nvSpPr>
          <p:cNvPr id="37" name="Chevron 36"/>
          <p:cNvSpPr/>
          <p:nvPr/>
        </p:nvSpPr>
        <p:spPr>
          <a:xfrm>
            <a:off x="8055864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9600" y="1938528"/>
            <a:ext cx="166420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5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2029968"/>
            <a:ext cx="14813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Quorum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350008"/>
            <a:ext cx="148132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co-located keys/replicas
hash-linked history</a:t>
            </a:r>
          </a:p>
        </p:txBody>
      </p:sp>
      <p:sp>
        <p:nvSpPr>
          <p:cNvPr id="41" name="Chevron 40"/>
          <p:cNvSpPr/>
          <p:nvPr/>
        </p:nvSpPr>
        <p:spPr>
          <a:xfrm>
            <a:off x="9957816" y="2286000"/>
            <a:ext cx="146304" cy="256032"/>
          </a:xfrm>
          <a:prstGeom prst="chevron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131552" y="1938528"/>
            <a:ext cx="1298448" cy="987552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F4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22992" y="2029968"/>
            <a:ext cx="111556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0B1F33"/>
                </a:solidFill>
                <a:latin typeface="Liberation Sans"/>
              </a:rPr>
              <a:t>Marked copy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22992" y="2350008"/>
            <a:ext cx="111556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617386"/>
                </a:solidFill>
                <a:latin typeface="Liberation Sans"/>
              </a:rPr>
              <a:t>same visible
content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25696" y="3218688"/>
            <a:ext cx="5468112" cy="566928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62856" y="3346704"/>
            <a:ext cx="51937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0B1F33"/>
                </a:solidFill>
                <a:latin typeface="Liberation Sans"/>
              </a:rPr>
              <a:t>LEAK → reference + visual/layout score → trace / ABSTAIN → receipt verification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352544"/>
            <a:ext cx="544982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553712"/>
            <a:ext cx="5010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0B1F33"/>
                </a:solidFill>
                <a:latin typeface="Liberation Sans"/>
              </a:rPr>
              <a:t>CURRENT BOUNDARIES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" y="4901184"/>
            <a:ext cx="498348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60">
                <a:solidFill>
                  <a:srgbClr val="172A3A"/>
                </a:solidFill>
                <a:latin typeface="Liberation Sans"/>
              </a:rPr>
              <a:t>Witness is not enforced in trace/release; plaintext exists before marking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60">
                <a:solidFill>
                  <a:srgbClr val="172A3A"/>
                </a:solidFill>
                <a:latin typeface="Liberation Sans"/>
              </a:rPr>
              <a:t>Initial audit/row allocation is not transaction-wide; reference retained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4352544"/>
            <a:ext cx="5449824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4553712"/>
            <a:ext cx="5010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B1F33"/>
                </a:solidFill>
                <a:latin typeface="Liberation Sans"/>
              </a:rPr>
              <a:t>PROPOSED HARDENING — NOT IMPLEMENTED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4901184"/>
            <a:ext cx="498348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60">
                <a:solidFill>
                  <a:srgbClr val="172A3A"/>
                </a:solidFill>
                <a:latin typeface="Liberation Sans"/>
              </a:rPr>
              <a:t>Protected custody + external checkpoints + transaction-wide allocation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060">
                <a:solidFill>
                  <a:srgbClr val="172A3A"/>
                </a:solidFill>
                <a:latin typeface="Liberation Sans"/>
              </a:rPr>
              <a:t>Freeze release-bound assurance policy; separate keys and operators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FEASIBILITY AND VIABILITY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133856"/>
            <a:ext cx="4718304" cy="4535424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362456"/>
            <a:ext cx="422452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0B1F33"/>
                </a:solidFill>
                <a:latin typeface="Liberation Sans"/>
              </a:rPr>
              <a:t>COMPACT MEASURED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746504"/>
            <a:ext cx="42062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1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10">
                <a:solidFill>
                  <a:srgbClr val="172A3A"/>
                </a:solidFill>
                <a:latin typeface="Liberation Sans"/>
              </a:rPr>
              <a:t>Digital: 30/30 exact JPEG-Q55 sessions; all 1,000 rows scored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1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10">
                <a:solidFill>
                  <a:srgbClr val="172A3A"/>
                </a:solidFill>
                <a:latin typeface="Liberation Sans"/>
              </a:rPr>
              <a:t>Physical: historical 0/4; conditional 1/4 per profile, same capture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1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10">
                <a:solidFill>
                  <a:srgbClr val="172A3A"/>
                </a:solidFill>
                <a:latin typeface="Liberation Sans"/>
              </a:rPr>
              <a:t>Searchable text retained; PDF bytes are not identical and signatures are not proven preserved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10">
                <a:solidFill>
                  <a:srgbClr val="15B8A6"/>
                </a:solidFill>
                <a:latin typeface="Liberation Sans"/>
              </a:rPr>
              <a:t>●  </a:t>
            </a:r>
            <a:r>
              <a:rPr sz="1110">
                <a:solidFill>
                  <a:srgbClr val="172A3A"/>
                </a:solidFill>
                <a:latin typeface="Liberation Sans"/>
              </a:rPr>
              <a:t>Conflict/removal fixtures abstain; witness detects the recorded rollback fixture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703320"/>
            <a:ext cx="1115568" cy="786384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776472"/>
            <a:ext cx="1005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E73"/>
                </a:solidFill>
                <a:latin typeface="Liberation Sans"/>
              </a:rPr>
              <a:t>41.87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142231"/>
            <a:ext cx="969264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17386"/>
                </a:solidFill>
                <a:latin typeface="Liberation Sans"/>
              </a:rPr>
              <a:t>MEAN PSNR · 5 PDFs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48256" y="3703320"/>
            <a:ext cx="1627632" cy="786384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776472"/>
            <a:ext cx="151790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A6900"/>
                </a:solidFill>
                <a:latin typeface="Liberation Sans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4142231"/>
            <a:ext cx="148132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17386"/>
                </a:solidFill>
                <a:latin typeface="Liberation Sans"/>
              </a:rPr>
              <a:t>RECORDED DIGITAL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85615" y="3703320"/>
            <a:ext cx="1152144" cy="786384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79" y="3776472"/>
            <a:ext cx="104241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87E73"/>
                </a:solidFill>
                <a:latin typeface="Liberation Sans"/>
              </a:rPr>
              <a:t>120/120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58768" y="4142231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617386"/>
                </a:solidFill>
                <a:latin typeface="Liberation Sans"/>
              </a:rPr>
              <a:t>CODE TRIALS · ALL 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791456"/>
            <a:ext cx="4078224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80060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EXPERIMENTAL EVIDENCE · NOT A RELIABILITY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230368"/>
            <a:ext cx="4041648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120 code-level cases are not 120 physical trials.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1264" y="1143000"/>
            <a:ext cx="5980176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B1F33"/>
                </a:solidFill>
                <a:latin typeface="Liberation Sans"/>
              </a:rPr>
              <a:t>FOUR MATERIAL RISK GROUPS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41264" y="1609344"/>
            <a:ext cx="59801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87568" y="1746504"/>
            <a:ext cx="658368" cy="31089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87568" y="1755648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D95555"/>
                </a:solidFill>
                <a:latin typeface="Liberation Sans"/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1700784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B1F33"/>
                </a:solidFill>
                <a:latin typeface="Liberation Sans"/>
              </a:rPr>
              <a:t>Physical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1700784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One page / four captures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057400"/>
            <a:ext cx="479145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087E73"/>
                </a:solidFill>
                <a:latin typeface="Liberation Sans"/>
              </a:rPr>
              <a:t>UNRESOLVED  ·  held-out print/camera matrix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541264" y="2560320"/>
            <a:ext cx="59801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87568" y="2697479"/>
            <a:ext cx="658368" cy="31089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87568" y="2706623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D95555"/>
                </a:solidFill>
                <a:latin typeface="Liberation Sans"/>
              </a:rP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65176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B1F33"/>
                </a:solidFill>
                <a:latin typeface="Liberation Sans"/>
              </a:rPr>
              <a:t>Raster / capacity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2651760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Low-capacity bypass; raster policy 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3008376"/>
            <a:ext cx="479145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087E73"/>
                </a:solidFill>
                <a:latin typeface="Liberation Sans"/>
              </a:rPr>
              <a:t>UNRESOLVED  ·  fail/restrict release policy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41264" y="3511296"/>
            <a:ext cx="59801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687568" y="3648456"/>
            <a:ext cx="658368" cy="31089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87568" y="3657599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D95555"/>
                </a:solidFill>
                <a:latin typeface="Liberation Sans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602736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B1F33"/>
                </a:solidFill>
                <a:latin typeface="Liberation Sans"/>
              </a:rPr>
              <a:t>Rollback / row race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45552" y="3602736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Witness separate; allocation not atomic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3959352"/>
            <a:ext cx="479145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087E73"/>
                </a:solidFill>
                <a:latin typeface="Liberation Sans"/>
              </a:rPr>
              <a:t>UNRESOLVED  ·  external checkpoint + atomic row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41264" y="4462272"/>
            <a:ext cx="5980176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687568" y="4599432"/>
            <a:ext cx="658368" cy="310896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87568" y="4608576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D95555"/>
                </a:solidFill>
                <a:latin typeface="Liberation Sans"/>
              </a:rPr>
              <a:t>HIGH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4553712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0B1F33"/>
                </a:solidFill>
                <a:latin typeface="Liberation Sans"/>
              </a:rPr>
              <a:t>Framing / removal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45552" y="4553712"/>
            <a:ext cx="34564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17386"/>
                </a:solidFill>
                <a:latin typeface="Liberation Sans"/>
              </a:rPr>
              <a:t>Authority can re-mark; both carriers removable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4910328"/>
            <a:ext cx="479145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087E73"/>
                </a:solidFill>
                <a:latin typeface="Liberation Sans"/>
              </a:rPr>
              <a:t>UNRESOLVED  ·  custody + negative attacks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541264" y="5431536"/>
            <a:ext cx="5980176" cy="274320"/>
          </a:xfrm>
          <a:prstGeom prst="round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96128" y="5458968"/>
            <a:ext cx="5870448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D95555"/>
                </a:solidFill>
                <a:latin typeface="Liberation Sans"/>
              </a:rPr>
              <a:t>Recipient session evidence is not proof of who leaked it.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IMPACT AND BENEFITS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115568"/>
            <a:ext cx="11045952" cy="109728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344168"/>
            <a:ext cx="2057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942"/>
                </a:solidFill>
                <a:latin typeface="Liberation Sans"/>
              </a:rPr>
              <a:t>INVESTIGATIVE ASSISTANCE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1627632"/>
            <a:ext cx="3063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>
                <a:solidFill>
                  <a:srgbClr val="FFFFFF"/>
                </a:solidFill>
                <a:latin typeface="Liberation Sans"/>
              </a:rPr>
              <a:t>Offline session leads with PQ-signed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1344168"/>
            <a:ext cx="1463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4B942"/>
                </a:solidFill>
                <a:latin typeface="Liberation Sans"/>
              </a:rPr>
              <a:t>CURRENT POSITION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1627632"/>
            <a:ext cx="69311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Liberation Sans"/>
              </a:rPr>
              <a:t>Research proposal — not ready for operational accusations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468880"/>
            <a:ext cx="259689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2578608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B8A6"/>
                </a:solidFill>
                <a:latin typeface="Liberation Sans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2587752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3"/>
                </a:solidFill>
                <a:latin typeface="Liberation Sans"/>
              </a:rPr>
              <a:t>Session-level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953512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386"/>
                </a:solidFill>
                <a:latin typeface="Liberation Sans"/>
              </a:rPr>
              <a:t>Narrows an investigation to signed release sessions; it does not identify the human actor.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2468880"/>
            <a:ext cx="259689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578608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B8A6"/>
                </a:solidFill>
                <a:latin typeface="Liberation San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2587752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3"/>
                </a:solidFill>
                <a:latin typeface="Liberation Sans"/>
              </a:rPr>
              <a:t>Offline operation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2953512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386"/>
                </a:solidFill>
                <a:latin typeface="Liberation Sans"/>
              </a:rPr>
              <a:t>The measured demo does not depend on cloud APIs, tokens or a public chain.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2468880"/>
            <a:ext cx="259689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578608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B942"/>
                </a:solidFill>
                <a:latin typeface="Liberation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2587752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3"/>
                </a:solidFill>
                <a:latin typeface="Liberation Sans"/>
              </a:rPr>
              <a:t>PQC 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5936" y="2953512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386"/>
                </a:solidFill>
                <a:latin typeface="Liberation Sans"/>
              </a:rPr>
              <a:t>ML-KEM and ML-DSA protect key delivery and release receipts in the prototype.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15984" y="2468880"/>
            <a:ext cx="259689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578608"/>
            <a:ext cx="56692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5B8A6"/>
                </a:solidFill>
                <a:latin typeface="Liberation San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9215" y="2587752"/>
            <a:ext cx="17556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B1F33"/>
                </a:solidFill>
                <a:latin typeface="Liberation Sans"/>
              </a:rPr>
              <a:t>Evidence discipline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2953512"/>
            <a:ext cx="2304288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17386"/>
                </a:solidFill>
                <a:latin typeface="Liberation Sans"/>
              </a:rPr>
              <a:t>Conflict, removal and proof boundaries are recorded instead of hidden.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3767328"/>
            <a:ext cx="4663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0B1F33"/>
                </a:solidFill>
                <a:latin typeface="Liberation Sans"/>
              </a:rPr>
              <a:t>THREE GATES BEFORE OPERATIONAL USE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" y="4151376"/>
            <a:ext cx="3474720" cy="1389888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8096" y="4306824"/>
            <a:ext cx="1188720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" y="4315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GATE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709160"/>
            <a:ext cx="31455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Liberation Sans"/>
              </a:rPr>
              <a:t>Security boundaries + defensible claim language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" y="5038344"/>
            <a:ext cx="3145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17386"/>
                </a:solidFill>
                <a:latin typeface="Liberation Sans"/>
              </a:rPr>
              <a:t>REQUIRES: Release policy; accusation limits</a:t>
            </a:r>
          </a:p>
        </p:txBody>
      </p:sp>
      <p:sp>
        <p:nvSpPr>
          <p:cNvPr id="42" name="Chevron 41"/>
          <p:cNvSpPr/>
          <p:nvPr/>
        </p:nvSpPr>
        <p:spPr>
          <a:xfrm>
            <a:off x="4133087" y="4672584"/>
            <a:ext cx="155448" cy="256032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34256" y="4151376"/>
            <a:ext cx="3474720" cy="1389888"/>
          </a:xfrm>
          <a:prstGeom prst="roundRect">
            <a:avLst/>
          </a:prstGeom>
          <a:solidFill>
            <a:srgbClr val="FFF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98848" y="4306824"/>
            <a:ext cx="1188720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98848" y="4315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GATE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98848" y="4709160"/>
            <a:ext cx="31455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Liberation Sans"/>
              </a:rPr>
              <a:t>Independent documents, keys and recipients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98848" y="5038344"/>
            <a:ext cx="3145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17386"/>
                </a:solidFill>
                <a:latin typeface="Liberation Sans"/>
              </a:rPr>
              <a:t>REQUIRES: Multi-page + signed/tagged PDFs + negative attacks</a:t>
            </a:r>
          </a:p>
        </p:txBody>
      </p:sp>
      <p:sp>
        <p:nvSpPr>
          <p:cNvPr id="48" name="Chevron 47"/>
          <p:cNvSpPr/>
          <p:nvPr/>
        </p:nvSpPr>
        <p:spPr>
          <a:xfrm>
            <a:off x="7863840" y="4672584"/>
            <a:ext cx="155448" cy="256032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065008" y="4151376"/>
            <a:ext cx="3474720" cy="138988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29600" y="4306824"/>
            <a:ext cx="1188720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431596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GATE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709160"/>
            <a:ext cx="3145536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1F33"/>
                </a:solidFill>
                <a:latin typeface="Liberation Sans"/>
              </a:rPr>
              <a:t>Held-out physical comparisons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038344"/>
            <a:ext cx="31455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17386"/>
                </a:solidFill>
                <a:latin typeface="Liberation Sans"/>
              </a:rPr>
              <a:t>REQUIRES: Matched visibility + security budgets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928" y="182880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B1F33"/>
                </a:solidFill>
                <a:latin typeface="Liberation Sans"/>
              </a:rPr>
              <a:t>RESEARCH AND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758952"/>
            <a:ext cx="1389888" cy="310896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768096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E73"/>
                </a:solidFill>
                <a:latin typeface="Liberation Sans"/>
              </a:rPr>
              <a:t>[TEAM 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1069848"/>
            <a:ext cx="54132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0B1F33"/>
                </a:solidFill>
                <a:latin typeface="Liberation Sans"/>
              </a:rPr>
              <a:t>PRIMARY SOURCES &amp; FOUNDATIONAL WORK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1481328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148132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1463040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Official SIH26237 problem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1682496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sih.gov.in/sih2026PS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2066544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06654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2048256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NIST FIPS 203 / 204 — ML-KEM / ML-DSA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2267712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csrc.nist.gov/pubs/fips/203/final · /fips/204/final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" y="2651760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6517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2633472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Tardos + T-Tracer + text-layout / dual marks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2852928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ACM / IEEE sources; full URLs in notes</a:t>
            </a:r>
          </a:p>
        </p:txBody>
      </p:sp>
      <p:sp>
        <p:nvSpPr>
          <p:cNvPr id="29" name="Oval 28"/>
          <p:cNvSpPr/>
          <p:nvPr/>
        </p:nvSpPr>
        <p:spPr>
          <a:xfrm>
            <a:off x="658368" y="3236976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23697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3218688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Physical/screen-camera baselines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" y="3438144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StegaStamp · arXiv:2304.12682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" y="3822192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82219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3803904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TRACE scope boundary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" y="4023360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arXiv:2607.08400 concerns LLM-agent trajectories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" y="4407408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40740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4389120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Saved physical + digital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4608576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research/evidence/.../scores.json · artifacts/nishan/*.json</a:t>
            </a:r>
          </a:p>
        </p:txBody>
      </p:sp>
      <p:sp>
        <p:nvSpPr>
          <p:cNvPr id="41" name="Oval 40"/>
          <p:cNvSpPr/>
          <p:nvPr/>
        </p:nvSpPr>
        <p:spPr>
          <a:xfrm>
            <a:off x="658368" y="4992624"/>
            <a:ext cx="256032" cy="256032"/>
          </a:xfrm>
          <a:prstGeom prst="ellipse">
            <a:avLst/>
          </a:prstGeom>
          <a:solidFill>
            <a:srgbClr val="15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499262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Liberation Sans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" y="4974336"/>
            <a:ext cx="5001768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B1F33"/>
                </a:solidFill>
                <a:latin typeface="Liberation Sans"/>
              </a:rPr>
              <a:t>Public repository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" y="5193792"/>
            <a:ext cx="5001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17386"/>
                </a:solidFill>
                <a:latin typeface="Liberation Sans"/>
              </a:rPr>
              <a:t>[INSERT PUBLIC REPOSITORY LINK BEFORE UPLOAD]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54496" y="1088136"/>
            <a:ext cx="5330952" cy="4498848"/>
          </a:xfrm>
          <a:prstGeom prst="roundRect">
            <a:avLst/>
          </a:prstGeom>
          <a:solidFill>
            <a:srgbClr val="F3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10528" y="1362456"/>
            <a:ext cx="4809744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B1F33"/>
                </a:solidFill>
                <a:latin typeface="Liberation Sans"/>
              </a:rPr>
              <a:t>PRIOR-ART BOUNDARY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10528" y="1810512"/>
            <a:ext cx="4828032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11696" y="1993392"/>
            <a:ext cx="442569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617386"/>
                </a:solidFill>
                <a:latin typeface="Liberation Sans"/>
              </a:rPr>
              <a:t>KNOWN / PRESCRIBED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1696" y="2386584"/>
            <a:ext cx="4425696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>
                <a:solidFill>
                  <a:srgbClr val="172A3A"/>
                </a:solidFill>
                <a:latin typeface="Liberation Sans"/>
              </a:rPr>
              <a:t>SIH26237 prescribes decryption marking, PQ signatures and DLT. Tardos, layout/dual marks and physical baselines pre-exist.</a:t>
            </a:r>
          </a:p>
        </p:txBody>
      </p:sp>
      <p:sp>
        <p:nvSpPr>
          <p:cNvPr id="50" name="Chevron 49"/>
          <p:cNvSpPr/>
          <p:nvPr/>
        </p:nvSpPr>
        <p:spPr>
          <a:xfrm>
            <a:off x="8714232" y="3236976"/>
            <a:ext cx="329184" cy="265176"/>
          </a:xfrm>
          <a:prstGeom prst="chevron">
            <a:avLst/>
          </a:prstGeom>
          <a:solidFill>
            <a:srgbClr val="F4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510528" y="3611880"/>
            <a:ext cx="4828032" cy="1490472"/>
          </a:xfrm>
          <a:prstGeom prst="round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11696" y="3803904"/>
            <a:ext cx="4425696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087E73"/>
                </a:solidFill>
                <a:latin typeface="Liberation Sans"/>
              </a:rPr>
              <a:t>HONEST CONTRIBUTION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11696" y="4178808"/>
            <a:ext cx="4425696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>
                <a:solidFill>
                  <a:srgbClr val="0B1F33"/>
                </a:solidFill>
                <a:latin typeface="Liberation Sans"/>
              </a:rPr>
              <a:t>Measured integration plus failure analysis: session-bound dual-domain evidence, explicit abstention, and documented physical limitations—not exclusive novelty or best-in-world performance.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28816" y="5230368"/>
            <a:ext cx="4773168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8816" y="5239512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FFFFFF"/>
                </a:solidFill>
                <a:latin typeface="Liberation Sans"/>
              </a:rPr>
              <a:t>Shorter code / stronger carrier: unvalidated hypotheses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NISHAN-PQ — SIH26237 Idea Submission</dc:title>
  <dc:subject>Smart India Hackathon 2026</dc:subject>
  <dc:creator>[ENTER REGISTERED TEAM NAME]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
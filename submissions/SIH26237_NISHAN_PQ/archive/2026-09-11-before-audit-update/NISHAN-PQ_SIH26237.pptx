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1097280"/>
            <a:ext cx="6144768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B1F33"/>
                </a:solidFill>
                <a:latin typeface="Liberation Sans"/>
              </a:rPr>
              <a:t>NISHAN-PQ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19072"/>
            <a:ext cx="61264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E73"/>
                </a:solidFill>
                <a:latin typeface="Liberation Sans"/>
              </a:rPr>
              <a:t>Every decrypted copy leaves a verifiable mark.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267712"/>
            <a:ext cx="6144768" cy="3364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496312"/>
            <a:ext cx="210312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617386"/>
                </a:solidFill>
                <a:latin typeface="Liberation Sans"/>
              </a:rPr>
              <a:t>PROBLEM STATEMENT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2487168"/>
            <a:ext cx="3493008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72A3A"/>
                </a:solidFill>
                <a:latin typeface="Liberation Sans"/>
              </a:rPr>
              <a:t>SIH26237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26080"/>
            <a:ext cx="210312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617386"/>
                </a:solidFill>
                <a:latin typeface="Liberation Sans"/>
              </a:rPr>
              <a:t>PROBLEM STATEMENT TITLE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916936"/>
            <a:ext cx="3493008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72A3A"/>
                </a:solidFill>
                <a:latin typeface="Liberation Sans"/>
              </a:rPr>
              <a:t>Cryptographic Attribution and Immutable Decryption Provenance for Multi-Recipient Encrypted Document Distribution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639312"/>
            <a:ext cx="210312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617386"/>
                </a:solidFill>
                <a:latin typeface="Liberation Sans"/>
              </a:rPr>
              <a:t>THEME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3630168"/>
            <a:ext cx="3493008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72A3A"/>
                </a:solidFill>
                <a:latin typeface="Liberation Sans"/>
              </a:rPr>
              <a:t>Blockchain &amp; Cybersecurity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69080"/>
            <a:ext cx="210312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617386"/>
                </a:solidFill>
                <a:latin typeface="Liberation Sans"/>
              </a:rPr>
              <a:t>PS CATEGORY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4059936"/>
            <a:ext cx="3493008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72A3A"/>
                </a:solidFill>
                <a:latin typeface="Liberation Sans"/>
              </a:rPr>
              <a:t>Software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498848"/>
            <a:ext cx="210312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617386"/>
                </a:solidFill>
                <a:latin typeface="Liberation Sans"/>
              </a:rPr>
              <a:t>TEAM 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4368" y="4489704"/>
            <a:ext cx="3493008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D95555"/>
                </a:solidFill>
                <a:latin typeface="Liberation Sans"/>
              </a:rPr>
              <a:t>[ENTER TEAM ID]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928616"/>
            <a:ext cx="210312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617386"/>
                </a:solidFill>
                <a:latin typeface="Liberation Sans"/>
              </a:rPr>
              <a:t>TEAM NAME (REGISTERED ON PORTAL)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44368" y="4919472"/>
            <a:ext cx="3493008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D95555"/>
                </a:solidFill>
                <a:latin typeface="Liberation Sans"/>
              </a:rPr>
              <a:t>[ENTER REGISTERED TEAM NAME]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1216152"/>
            <a:ext cx="4187952" cy="4498848"/>
          </a:xfrm>
          <a:prstGeom prst="round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1581912"/>
            <a:ext cx="1993392" cy="2670048"/>
          </a:xfrm>
          <a:prstGeom prst="rect">
            <a:avLst/>
          </a:prstGeom>
          <a:solidFill>
            <a:srgbClr val="FFFFFF"/>
          </a:solidFill>
          <a:ln w="20320">
            <a:solidFill>
              <a:srgbClr val="245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Triangle 25"/>
          <p:cNvSpPr/>
          <p:nvPr/>
        </p:nvSpPr>
        <p:spPr>
          <a:xfrm rot="10800000">
            <a:off x="9692640" y="1581912"/>
            <a:ext cx="530352" cy="530352"/>
          </a:xfrm>
          <a:prstGeom prst="rtTriangle">
            <a:avLst/>
          </a:prstGeom>
          <a:solidFill>
            <a:srgbClr val="E8F7F4"/>
          </a:solidFill>
          <a:ln>
            <a:solidFill>
              <a:srgbClr val="245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2103120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D95555"/>
                </a:solidFill>
                <a:latin typeface="Liberation Sans"/>
              </a:rPr>
              <a:t>RESTRICTED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40496" y="2670048"/>
            <a:ext cx="1143000" cy="59436"/>
          </a:xfrm>
          <a:prstGeom prst="rect">
            <a:avLst/>
          </a:prstGeom>
          <a:solidFill>
            <a:srgbClr val="DC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40496" y="2926080"/>
            <a:ext cx="1353312" cy="59436"/>
          </a:xfrm>
          <a:prstGeom prst="rect">
            <a:avLst/>
          </a:prstGeom>
          <a:solidFill>
            <a:srgbClr val="DC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0496" y="3182112"/>
            <a:ext cx="960120" cy="59436"/>
          </a:xfrm>
          <a:prstGeom prst="rect">
            <a:avLst/>
          </a:prstGeom>
          <a:solidFill>
            <a:srgbClr val="DC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0496" y="3438144"/>
            <a:ext cx="1261872" cy="59436"/>
          </a:xfrm>
          <a:prstGeom prst="rect">
            <a:avLst/>
          </a:prstGeom>
          <a:solidFill>
            <a:srgbClr val="DC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rc 31"/>
          <p:cNvSpPr/>
          <p:nvPr/>
        </p:nvSpPr>
        <p:spPr>
          <a:xfrm>
            <a:off x="8814816" y="2962656"/>
            <a:ext cx="658368" cy="822960"/>
          </a:xfrm>
          <a:prstGeom prst="arc">
            <a:avLst/>
          </a:prstGeom>
          <a:noFill/>
          <a:ln w="2794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rc 32"/>
          <p:cNvSpPr/>
          <p:nvPr/>
        </p:nvSpPr>
        <p:spPr>
          <a:xfrm>
            <a:off x="8741664" y="2889504"/>
            <a:ext cx="804672" cy="969264"/>
          </a:xfrm>
          <a:prstGeom prst="arc">
            <a:avLst/>
          </a:prstGeom>
          <a:noFill/>
          <a:ln w="2794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rc 33"/>
          <p:cNvSpPr/>
          <p:nvPr/>
        </p:nvSpPr>
        <p:spPr>
          <a:xfrm>
            <a:off x="8668512" y="2816352"/>
            <a:ext cx="950976" cy="1115568"/>
          </a:xfrm>
          <a:prstGeom prst="arc">
            <a:avLst/>
          </a:prstGeom>
          <a:noFill/>
          <a:ln w="2794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rc 34"/>
          <p:cNvSpPr/>
          <p:nvPr/>
        </p:nvSpPr>
        <p:spPr>
          <a:xfrm>
            <a:off x="8595360" y="2743200"/>
            <a:ext cx="1097280" cy="1261872"/>
          </a:xfrm>
          <a:prstGeom prst="arc">
            <a:avLst/>
          </a:prstGeom>
          <a:noFill/>
          <a:ln w="2794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635240" y="1828800"/>
            <a:ext cx="493776" cy="493776"/>
          </a:xfrm>
          <a:prstGeom prst="ellipse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35240" y="1828800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Liberation Sans"/>
              </a:rPr>
              <a:t>V1</a:t>
            </a:r>
          </a:p>
        </p:txBody>
      </p:sp>
      <p:sp>
        <p:nvSpPr>
          <p:cNvPr id="38" name="Oval 37"/>
          <p:cNvSpPr/>
          <p:nvPr/>
        </p:nvSpPr>
        <p:spPr>
          <a:xfrm>
            <a:off x="10488168" y="1847088"/>
            <a:ext cx="493776" cy="493776"/>
          </a:xfrm>
          <a:prstGeom prst="ellipse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88168" y="1847088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Liberation Sans"/>
              </a:rPr>
              <a:t>V2</a:t>
            </a:r>
          </a:p>
        </p:txBody>
      </p:sp>
      <p:sp>
        <p:nvSpPr>
          <p:cNvPr id="40" name="Oval 39"/>
          <p:cNvSpPr/>
          <p:nvPr/>
        </p:nvSpPr>
        <p:spPr>
          <a:xfrm>
            <a:off x="7662672" y="4526280"/>
            <a:ext cx="493776" cy="493776"/>
          </a:xfrm>
          <a:prstGeom prst="ellipse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62672" y="4526280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Liberation Sans"/>
              </a:rPr>
              <a:t>V3</a:t>
            </a:r>
          </a:p>
        </p:txBody>
      </p:sp>
      <p:sp>
        <p:nvSpPr>
          <p:cNvPr id="42" name="Oval 41"/>
          <p:cNvSpPr/>
          <p:nvPr/>
        </p:nvSpPr>
        <p:spPr>
          <a:xfrm>
            <a:off x="10469880" y="4498848"/>
            <a:ext cx="493776" cy="493776"/>
          </a:xfrm>
          <a:prstGeom prst="ellipse">
            <a:avLst/>
          </a:prstGeom>
          <a:solidFill>
            <a:srgbClr val="617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69880" y="4498848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Liberation Sans"/>
              </a:rPr>
              <a:t>V4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00416" y="5074920"/>
            <a:ext cx="2980944" cy="310896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00416" y="5084064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Liberation Sans"/>
              </a:rPr>
              <a:t>MEASURED END-TO-END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" y="182880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Liberation Sans"/>
              </a:rPr>
              <a:t>IDEA TITLE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758952"/>
            <a:ext cx="1389888" cy="310896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768096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E73"/>
                </a:solidFill>
                <a:latin typeface="Liberation Sans"/>
              </a:rPr>
              <a:t>[TEAM NAME]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749808"/>
            <a:ext cx="94640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B1F33"/>
                </a:solidFill>
                <a:latin typeface="Liberation Sans"/>
              </a:rPr>
              <a:t>NISHAN-PQ  </a:t>
            </a:r>
            <a:r>
              <a:rPr sz="1400" b="1">
                <a:solidFill>
                  <a:srgbClr val="087E73"/>
                </a:solidFill>
                <a:latin typeface="Liberation Sans"/>
              </a:rPr>
              <a:t>At-decryption leak attribution for air-gapped document distribution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1152144"/>
            <a:ext cx="1099108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172A3A"/>
                </a:solidFill>
                <a:latin typeface="Liberation Sans"/>
              </a:rPr>
              <a:t>PROPOSED SOLUTION  |  Bind two separately encoded PDF fingerprints + one recipient signature + one quorum receipt to every decrypted session before release.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" y="1664208"/>
            <a:ext cx="2057400" cy="1197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4088" y="1792224"/>
            <a:ext cx="310896" cy="310896"/>
          </a:xfrm>
          <a:prstGeom prst="ellipse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179222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" y="1755648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0B1F33"/>
                </a:solidFill>
                <a:latin typeface="Liberation Sans"/>
              </a:rPr>
              <a:t>Encrypt once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2167128"/>
            <a:ext cx="1801368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17386"/>
                </a:solidFill>
                <a:latin typeface="Liberation Sans"/>
              </a:rPr>
              <a:t>One AES-256-GCM ciphertext; no duplicate source files.</a:t>
            </a:r>
          </a:p>
        </p:txBody>
      </p:sp>
      <p:sp>
        <p:nvSpPr>
          <p:cNvPr id="22" name="Chevron 21"/>
          <p:cNvSpPr/>
          <p:nvPr/>
        </p:nvSpPr>
        <p:spPr>
          <a:xfrm>
            <a:off x="2688336" y="2093976"/>
            <a:ext cx="155448" cy="274320"/>
          </a:xfrm>
          <a:prstGeom prst="chevron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852928" y="1664208"/>
            <a:ext cx="2057400" cy="1197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71800" y="1792224"/>
            <a:ext cx="310896" cy="310896"/>
          </a:xfrm>
          <a:prstGeom prst="ellipse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71800" y="179222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55848" y="1755648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0B1F33"/>
                </a:solidFill>
                <a:latin typeface="Liberation Sans"/>
              </a:rPr>
              <a:t>Authorize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0944" y="2167128"/>
            <a:ext cx="1801368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17386"/>
                </a:solidFill>
                <a:latin typeface="Liberation Sans"/>
              </a:rPr>
              <a:t>ML-KEM-768 wraps the same content key for each recipient.</a:t>
            </a:r>
          </a:p>
        </p:txBody>
      </p:sp>
      <p:sp>
        <p:nvSpPr>
          <p:cNvPr id="28" name="Chevron 27"/>
          <p:cNvSpPr/>
          <p:nvPr/>
        </p:nvSpPr>
        <p:spPr>
          <a:xfrm>
            <a:off x="4956048" y="2093976"/>
            <a:ext cx="155448" cy="274320"/>
          </a:xfrm>
          <a:prstGeom prst="chevron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120640" y="1664208"/>
            <a:ext cx="2057400" cy="1197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239512" y="1792224"/>
            <a:ext cx="310896" cy="310896"/>
          </a:xfrm>
          <a:prstGeom prst="ellipse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39512" y="179222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59" y="1755648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0B1F33"/>
                </a:solidFill>
                <a:latin typeface="Liberation Sans"/>
              </a:rPr>
              <a:t>Dual mark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48655" y="2167128"/>
            <a:ext cx="1801368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17386"/>
                </a:solidFill>
                <a:latin typeface="Liberation Sans"/>
              </a:rPr>
              <a:t>Tardos rendering row + HMAC tag in live PDF text layout.</a:t>
            </a:r>
          </a:p>
        </p:txBody>
      </p:sp>
      <p:sp>
        <p:nvSpPr>
          <p:cNvPr id="34" name="Chevron 33"/>
          <p:cNvSpPr/>
          <p:nvPr/>
        </p:nvSpPr>
        <p:spPr>
          <a:xfrm>
            <a:off x="7223760" y="2093976"/>
            <a:ext cx="155448" cy="274320"/>
          </a:xfrm>
          <a:prstGeom prst="chevron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88352" y="1664208"/>
            <a:ext cx="2057400" cy="1197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507224" y="1792224"/>
            <a:ext cx="310896" cy="310896"/>
          </a:xfrm>
          <a:prstGeom prst="ellipse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179222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Liberation Sans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91272" y="1755648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0B1F33"/>
                </a:solidFill>
                <a:latin typeface="Liberation Sans"/>
              </a:rPr>
              <a:t>Sign + commit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16368" y="2167128"/>
            <a:ext cx="1801368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17386"/>
                </a:solidFill>
                <a:latin typeface="Liberation Sans"/>
              </a:rPr>
              <a:t>Recipient ML-DSA receipt enters a 3-of-4 offline quorum.</a:t>
            </a:r>
          </a:p>
        </p:txBody>
      </p:sp>
      <p:sp>
        <p:nvSpPr>
          <p:cNvPr id="40" name="Chevron 39"/>
          <p:cNvSpPr/>
          <p:nvPr/>
        </p:nvSpPr>
        <p:spPr>
          <a:xfrm>
            <a:off x="9491472" y="2093976"/>
            <a:ext cx="155448" cy="274320"/>
          </a:xfrm>
          <a:prstGeom prst="chevron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656064" y="1664208"/>
            <a:ext cx="2057400" cy="1197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774936" y="1792224"/>
            <a:ext cx="310896" cy="310896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74936" y="179222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Liberation Sans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58984" y="1755648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0B1F33"/>
                </a:solidFill>
                <a:latin typeface="Liberation Sans"/>
              </a:rPr>
              <a:t>Trace or abstain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2167128"/>
            <a:ext cx="1801368" cy="6126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17386"/>
                </a:solidFill>
                <a:latin typeface="Liberation Sans"/>
              </a:rPr>
              <a:t>Require PDF channel agreement; verify signed evidence.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3127248"/>
            <a:ext cx="4937760" cy="2578608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" y="3346704"/>
            <a:ext cx="446227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Liberation Sans"/>
              </a:rPr>
              <a:t>MEASURED DIFFERENTIATION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" y="3730752"/>
            <a:ext cx="4443984" cy="1325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40">
                <a:solidFill>
                  <a:srgbClr val="15B8A6"/>
                </a:solidFill>
                <a:latin typeface="Liberation Sans"/>
              </a:rPr>
              <a:t>●  </a:t>
            </a:r>
            <a:r>
              <a:rPr sz="1140">
                <a:solidFill>
                  <a:srgbClr val="172A3A"/>
                </a:solidFill>
                <a:latin typeface="Liberation Sans"/>
              </a:rPr>
              <a:t>30/30 JPEG-Q55 sessions → exact signed release; 0 extra roster rows.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40">
                <a:solidFill>
                  <a:srgbClr val="15B8A6"/>
                </a:solidFill>
                <a:latin typeface="Liberation Sans"/>
              </a:rPr>
              <a:t>●  </a:t>
            </a:r>
            <a:r>
              <a:rPr sz="1140">
                <a:solidFill>
                  <a:srgbClr val="172A3A"/>
                </a:solidFill>
                <a:latin typeface="Liberation Sans"/>
              </a:rPr>
              <a:t>Score 13,433 ± 128 vs Z=2,100; 30 codebooks × 4: all five 120/120, 0 innocent.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940">
                <a:solidFill>
                  <a:srgbClr val="15B8A6"/>
                </a:solidFill>
                <a:latin typeface="Liberation Sans"/>
              </a:rPr>
              <a:t>●  </a:t>
            </a:r>
            <a:r>
              <a:rPr sz="1140">
                <a:solidFill>
                  <a:srgbClr val="172A3A"/>
                </a:solidFill>
                <a:latin typeface="Liberation Sans"/>
              </a:rPr>
              <a:t>Disjoint or partial visual/layout transplant → conflict → no accusation.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1248" y="5175504"/>
            <a:ext cx="1298448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" y="5184648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87E73"/>
                </a:solidFill>
                <a:latin typeface="Liberation Sans"/>
              </a:rPr>
              <a:t>41.6+ dB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276856" y="5175504"/>
            <a:ext cx="137160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76856" y="51846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87E73"/>
                </a:solidFill>
                <a:latin typeface="Liberation Sans"/>
              </a:rPr>
              <a:t>REAL PQC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785615" y="5175504"/>
            <a:ext cx="146304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85615" y="518464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87E73"/>
                </a:solidFill>
                <a:latin typeface="Liberation Sans"/>
              </a:rPr>
              <a:t>FULLY OFFLINE</a:t>
            </a:r>
          </a:p>
        </p:txBody>
      </p:sp>
      <p:pic>
        <p:nvPicPr>
          <p:cNvPr id="55" name="Picture 54" descr="attribution-sco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432" y="3154680"/>
            <a:ext cx="5815584" cy="159044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5888736" y="5440680"/>
            <a:ext cx="550468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17386"/>
                </a:solidFill>
                <a:latin typeface="Liberation Sans"/>
              </a:rPr>
              <a:t>Measured prototype run · 10 Sep 2026 · all 1,000 rows scored · real physical captures pending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928" y="182880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Liberation Sans"/>
              </a:rPr>
              <a:t>TECHNICAL APPROACH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758952"/>
            <a:ext cx="1389888" cy="310896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768096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E73"/>
                </a:solidFill>
                <a:latin typeface="Liberation Sans"/>
              </a:rPr>
              <a:t>[TEAM NAME]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777240"/>
            <a:ext cx="8961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7E73"/>
                </a:solidFill>
                <a:latin typeface="Liberation Sans"/>
              </a:rPr>
              <a:t>One trust path; every security claim maps to a concrete mechanism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188720"/>
            <a:ext cx="11137392" cy="2926080"/>
          </a:xfrm>
          <a:prstGeom prst="round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9808" y="1380744"/>
            <a:ext cx="1847088" cy="310896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1389888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Liberation Sans"/>
              </a:rPr>
              <a:t>AIR-GAPPED TRUST BOUNDARY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1938528"/>
            <a:ext cx="1536192" cy="9875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2029968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B1F33"/>
                </a:solidFill>
                <a:latin typeface="Liberation Sans"/>
              </a:rPr>
              <a:t>Sender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2350008"/>
            <a:ext cx="13533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617386"/>
                </a:solidFill>
                <a:latin typeface="Liberation Sans"/>
              </a:rPr>
              <a:t>AES-256-GCM
one ciphertext</a:t>
            </a:r>
          </a:p>
        </p:txBody>
      </p:sp>
      <p:sp>
        <p:nvSpPr>
          <p:cNvPr id="23" name="Chevron 22"/>
          <p:cNvSpPr/>
          <p:nvPr/>
        </p:nvSpPr>
        <p:spPr>
          <a:xfrm>
            <a:off x="2350008" y="2286000"/>
            <a:ext cx="146304" cy="256032"/>
          </a:xfrm>
          <a:prstGeom prst="chevron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523744" y="1938528"/>
            <a:ext cx="1664208" cy="9875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15184" y="2029968"/>
            <a:ext cx="1481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B1F33"/>
                </a:solidFill>
                <a:latin typeface="Liberation Sans"/>
              </a:rPr>
              <a:t>Key envelopes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15184" y="2350008"/>
            <a:ext cx="148132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617386"/>
                </a:solidFill>
                <a:latin typeface="Liberation Sans"/>
              </a:rPr>
              <a:t>ML-KEM-768
per recipient</a:t>
            </a:r>
          </a:p>
        </p:txBody>
      </p:sp>
      <p:sp>
        <p:nvSpPr>
          <p:cNvPr id="27" name="Chevron 26"/>
          <p:cNvSpPr/>
          <p:nvPr/>
        </p:nvSpPr>
        <p:spPr>
          <a:xfrm>
            <a:off x="4251960" y="2286000"/>
            <a:ext cx="146304" cy="256032"/>
          </a:xfrm>
          <a:prstGeom prst="chevron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25696" y="1938528"/>
            <a:ext cx="1664208" cy="9875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17136" y="2029968"/>
            <a:ext cx="1481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B1F33"/>
                </a:solidFill>
                <a:latin typeface="Liberation Sans"/>
              </a:rPr>
              <a:t>Trusted viewer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7136" y="2350008"/>
            <a:ext cx="148132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617386"/>
                </a:solidFill>
                <a:latin typeface="Liberation Sans"/>
              </a:rPr>
              <a:t>Tardos row + HMAC
layout session tag</a:t>
            </a:r>
          </a:p>
        </p:txBody>
      </p:sp>
      <p:sp>
        <p:nvSpPr>
          <p:cNvPr id="31" name="Chevron 30"/>
          <p:cNvSpPr/>
          <p:nvPr/>
        </p:nvSpPr>
        <p:spPr>
          <a:xfrm>
            <a:off x="6153912" y="2286000"/>
            <a:ext cx="146304" cy="256032"/>
          </a:xfrm>
          <a:prstGeom prst="chevron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27648" y="1938528"/>
            <a:ext cx="1664208" cy="9875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2029968"/>
            <a:ext cx="1481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B1F33"/>
                </a:solidFill>
                <a:latin typeface="Liberation Sans"/>
              </a:rPr>
              <a:t>Signed receipt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2350008"/>
            <a:ext cx="148132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617386"/>
                </a:solidFill>
                <a:latin typeface="Liberation Sans"/>
              </a:rPr>
              <a:t>ML-DSA-65
enrollment-bound</a:t>
            </a:r>
          </a:p>
        </p:txBody>
      </p:sp>
      <p:sp>
        <p:nvSpPr>
          <p:cNvPr id="35" name="Chevron 34"/>
          <p:cNvSpPr/>
          <p:nvPr/>
        </p:nvSpPr>
        <p:spPr>
          <a:xfrm>
            <a:off x="8055864" y="2286000"/>
            <a:ext cx="146304" cy="256032"/>
          </a:xfrm>
          <a:prstGeom prst="chevron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29600" y="1938528"/>
            <a:ext cx="1664208" cy="9875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2029968"/>
            <a:ext cx="1481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B1F33"/>
                </a:solidFill>
                <a:latin typeface="Liberation Sans"/>
              </a:rPr>
              <a:t>Quorum ledger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2350008"/>
            <a:ext cx="148132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617386"/>
                </a:solidFill>
                <a:latin typeface="Liberation Sans"/>
              </a:rPr>
              <a:t>3-of-4 endorsement
hash-linked history</a:t>
            </a:r>
          </a:p>
        </p:txBody>
      </p:sp>
      <p:sp>
        <p:nvSpPr>
          <p:cNvPr id="39" name="Chevron 38"/>
          <p:cNvSpPr/>
          <p:nvPr/>
        </p:nvSpPr>
        <p:spPr>
          <a:xfrm>
            <a:off x="9957816" y="2286000"/>
            <a:ext cx="146304" cy="256032"/>
          </a:xfrm>
          <a:prstGeom prst="chevron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131552" y="1938528"/>
            <a:ext cx="1298448" cy="9875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22992" y="2029968"/>
            <a:ext cx="11155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B1F33"/>
                </a:solidFill>
                <a:latin typeface="Liberation Sans"/>
              </a:rPr>
              <a:t>Marked copy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22992" y="2350008"/>
            <a:ext cx="111556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617386"/>
                </a:solidFill>
                <a:latin typeface="Liberation Sans"/>
              </a:rPr>
              <a:t>same visible
content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25696" y="3218688"/>
            <a:ext cx="5468112" cy="566928"/>
          </a:xfrm>
          <a:prstGeom prst="roundRect">
            <a:avLst/>
          </a:prstGeom>
          <a:solidFill>
            <a:srgbClr val="FFF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62856" y="3346704"/>
            <a:ext cx="5193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>
                <a:solidFill>
                  <a:srgbClr val="0B1F33"/>
                </a:solidFill>
                <a:latin typeface="Liberation Sans"/>
              </a:rPr>
              <a:t>LEAK → dual-channel consensus → trace / ABSTAIN → enrollment + signature + quorum verification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4352544"/>
            <a:ext cx="5449824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6384" y="4553712"/>
            <a:ext cx="50109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>
                <a:solidFill>
                  <a:srgbClr val="0B1F33"/>
                </a:solidFill>
                <a:latin typeface="Liberation Sans"/>
              </a:rPr>
              <a:t>WORKING PROTOTYPE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" y="4901184"/>
            <a:ext cx="498348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60">
                <a:solidFill>
                  <a:srgbClr val="15B8A6"/>
                </a:solidFill>
                <a:latin typeface="Liberation Sans"/>
              </a:rPr>
              <a:t>●  </a:t>
            </a:r>
            <a:r>
              <a:rPr sz="1060">
                <a:solidFill>
                  <a:srgbClr val="172A3A"/>
                </a:solidFill>
                <a:latin typeface="Liberation Sans"/>
              </a:rPr>
              <a:t>OpenSSL 3.6 · PyMuPDF · OpenCV ORB/RANSAC · full Tardos scorer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60">
                <a:solidFill>
                  <a:srgbClr val="15B8A6"/>
                </a:solidFill>
                <a:latin typeface="Liberation Sans"/>
              </a:rPr>
              <a:t>●  </a:t>
            </a:r>
            <a:r>
              <a:rPr sz="1060">
                <a:solidFill>
                  <a:srgbClr val="172A3A"/>
                </a:solidFill>
                <a:latin typeface="Liberation Sans"/>
              </a:rPr>
              <a:t>Signed enrollment root rejects substitute keys; PDF conflicts fail closed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99632" y="4352544"/>
            <a:ext cx="5449824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19088" y="4553712"/>
            <a:ext cx="50109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>
                <a:solidFill>
                  <a:srgbClr val="0B1F33"/>
                </a:solidFill>
                <a:latin typeface="Liberation Sans"/>
              </a:rPr>
              <a:t>HARDENED DEPLOYMENT PATH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19088" y="4901184"/>
            <a:ext cx="498348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60">
                <a:solidFill>
                  <a:srgbClr val="15B8A6"/>
                </a:solidFill>
                <a:latin typeface="Liberation Sans"/>
              </a:rPr>
              <a:t>●  </a:t>
            </a:r>
            <a:r>
              <a:rPr sz="1060">
                <a:solidFill>
                  <a:srgbClr val="172A3A"/>
                </a:solidFill>
                <a:latin typeface="Liberation Sans"/>
              </a:rPr>
              <a:t>Signed viewer + TPM/HSM keys + offline CA-bound identity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60">
                <a:solidFill>
                  <a:srgbClr val="15B8A6"/>
                </a:solidFill>
                <a:latin typeface="Liberation Sans"/>
              </a:rPr>
              <a:t>●  </a:t>
            </a:r>
            <a:r>
              <a:rPr sz="1060">
                <a:solidFill>
                  <a:srgbClr val="172A3A"/>
                </a:solidFill>
                <a:latin typeface="Liberation Sans"/>
              </a:rPr>
              <a:t>Separate Fabric peers + external PQ head witness; no public chain or cryptocurrency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" y="182880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Liberation Sans"/>
              </a:rPr>
              <a:t>FEASIBILITY AND VIABILITY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758952"/>
            <a:ext cx="1389888" cy="310896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768096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E73"/>
                </a:solidFill>
                <a:latin typeface="Liberation Sans"/>
              </a:rPr>
              <a:t>[TEAM NAME]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133856"/>
            <a:ext cx="4718304" cy="4535424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362456"/>
            <a:ext cx="4224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0B1F33"/>
                </a:solidFill>
                <a:latin typeface="Liberation Sans"/>
              </a:rPr>
              <a:t>IMPLEMENTED &amp; MEASURED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746504"/>
            <a:ext cx="42062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10">
                <a:solidFill>
                  <a:srgbClr val="15B8A6"/>
                </a:solidFill>
                <a:latin typeface="Liberation Sans"/>
              </a:rPr>
              <a:t>●  </a:t>
            </a:r>
            <a:r>
              <a:rPr sz="1110">
                <a:solidFill>
                  <a:srgbClr val="172A3A"/>
                </a:solidFill>
                <a:latin typeface="Liberation Sans"/>
              </a:rPr>
              <a:t>One encrypted broadcast package; three recipient key envelopes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10">
                <a:solidFill>
                  <a:srgbClr val="15B8A6"/>
                </a:solidFill>
                <a:latin typeface="Liberation Sans"/>
              </a:rPr>
              <a:t>●  </a:t>
            </a:r>
            <a:r>
              <a:rPr sz="1110">
                <a:solidFill>
                  <a:srgbClr val="172A3A"/>
                </a:solidFill>
                <a:latin typeface="Liberation Sans"/>
              </a:rPr>
              <a:t>Tardos rendering row + domain-separated HMAC layout tag before release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10">
                <a:solidFill>
                  <a:srgbClr val="15B8A6"/>
                </a:solidFill>
                <a:latin typeface="Liberation Sans"/>
              </a:rPr>
              <a:t>●  </a:t>
            </a:r>
            <a:r>
              <a:rPr sz="1110">
                <a:solidFill>
                  <a:srgbClr val="172A3A"/>
                </a:solidFill>
                <a:latin typeface="Liberation Sans"/>
              </a:rPr>
              <a:t>Searchable PDF + 52,500 symbols; all 1,000 rows scored against Z = 2,100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10">
                <a:solidFill>
                  <a:srgbClr val="15B8A6"/>
                </a:solidFill>
                <a:latin typeface="Liberation Sans"/>
              </a:rPr>
              <a:t>●  </a:t>
            </a:r>
            <a:r>
              <a:rPr sz="1110">
                <a:solidFill>
                  <a:srgbClr val="172A3A"/>
                </a:solidFill>
                <a:latin typeface="Liberation Sans"/>
              </a:rPr>
              <a:t>Transplant + forged receipt stop; witness catches full-ledger rollback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703320"/>
            <a:ext cx="1115568" cy="786384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776472"/>
            <a:ext cx="10058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E73"/>
                </a:solidFill>
                <a:latin typeface="Liberation Sans"/>
              </a:rPr>
              <a:t>41.87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142231"/>
            <a:ext cx="96926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17386"/>
                </a:solidFill>
                <a:latin typeface="Liberation Sans"/>
              </a:rPr>
              <a:t>MEAN PSNR · 5 PDFs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48256" y="3703320"/>
            <a:ext cx="1627632" cy="786384"/>
          </a:xfrm>
          <a:prstGeom prst="roundRect">
            <a:avLst/>
          </a:prstGeom>
          <a:solidFill>
            <a:srgbClr val="FFF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3776472"/>
            <a:ext cx="151790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A6900"/>
                </a:solidFill>
                <a:latin typeface="Liberation Sans"/>
              </a:rPr>
              <a:t>25 / 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21408" y="4142231"/>
            <a:ext cx="148132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17386"/>
                </a:solidFill>
                <a:latin typeface="Liberation Sans"/>
              </a:rPr>
              <a:t>ATTACK RULES MATCH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85615" y="3703320"/>
            <a:ext cx="1152144" cy="786384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79" y="3776472"/>
            <a:ext cx="104241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E73"/>
                </a:solidFill>
                <a:latin typeface="Liberation Sans"/>
              </a:rPr>
              <a:t>120/120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58768" y="4142231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17386"/>
                </a:solidFill>
                <a:latin typeface="Liberation Sans"/>
              </a:rPr>
              <a:t>CODE TRIALS · ALL 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" y="4791456"/>
            <a:ext cx="4078224" cy="310896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4800600"/>
            <a:ext cx="407822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Liberation Sans"/>
              </a:rPr>
              <a:t>₹0 licences · commodity computer · no network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230368"/>
            <a:ext cx="4041648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17386"/>
                </a:solidFill>
                <a:latin typeface="Liberation Sans"/>
              </a:rPr>
              <a:t>Every number is generated by the reproducible demo; no hand-entered result.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41264" y="1143000"/>
            <a:ext cx="598017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1F33"/>
                </a:solidFill>
                <a:latin typeface="Liberation Sans"/>
              </a:rPr>
              <a:t>POTENTIAL CHALLENGES → PREDECLARED VALIDATION GATES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41264" y="1609344"/>
            <a:ext cx="5980176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687568" y="1746504"/>
            <a:ext cx="658368" cy="31089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87568" y="1755648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D95555"/>
                </a:solidFill>
                <a:latin typeface="Liberation Sans"/>
              </a:rPr>
              <a:t>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1700784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0B1F33"/>
                </a:solidFill>
                <a:latin typeface="Liberation Sans"/>
              </a:rPr>
              <a:t>Print / photo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5552" y="1700784"/>
            <a:ext cx="34564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386"/>
                </a:solidFill>
                <a:latin typeface="Liberation Sans"/>
              </a:rPr>
              <a:t>Synthetic perspective passes; hardware pending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2057400"/>
            <a:ext cx="4791456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087E73"/>
                </a:solidFill>
                <a:latin typeface="Liberation Sans"/>
              </a:rPr>
              <a:t>GATE  150/300 dpi + phone-angle matrix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41264" y="2560320"/>
            <a:ext cx="5980176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687568" y="2697479"/>
            <a:ext cx="658368" cy="31089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87568" y="2706623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D95555"/>
                </a:solidFill>
                <a:latin typeface="Liberation Sans"/>
              </a:rPr>
              <a:t>HIGH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2651760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0B1F33"/>
                </a:solidFill>
                <a:latin typeface="Liberation Sans"/>
              </a:rPr>
              <a:t>PDF removal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45552" y="2651760"/>
            <a:ext cx="34564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386"/>
                </a:solidFill>
                <a:latin typeface="Liberation Sans"/>
              </a:rPr>
              <a:t>Both carriers remain removable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3008376"/>
            <a:ext cx="4791456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087E73"/>
                </a:solidFill>
                <a:latin typeface="Liberation Sans"/>
              </a:rPr>
              <a:t>GATE  Require agreement; controlled viewer; bind to content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541264" y="3511296"/>
            <a:ext cx="5980176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687568" y="3648456"/>
            <a:ext cx="658368" cy="31089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87568" y="3657599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D95555"/>
                </a:solidFill>
                <a:latin typeface="Liberation Sans"/>
              </a:rPr>
              <a:t>HIGH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3602736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0B1F33"/>
                </a:solidFill>
                <a:latin typeface="Liberation Sans"/>
              </a:rPr>
              <a:t>Proof scope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45552" y="3602736"/>
            <a:ext cx="34564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386"/>
                </a:solidFill>
                <a:latin typeface="Liberation Sans"/>
              </a:rPr>
              <a:t>JPEG has 11.2% marking violations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3959352"/>
            <a:ext cx="4791456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087E73"/>
                </a:solidFill>
                <a:latin typeface="Liberation Sans"/>
              </a:rPr>
              <a:t>GATE  Report condition per attack; add error-tolerant sync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41264" y="4462272"/>
            <a:ext cx="5980176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687568" y="4599432"/>
            <a:ext cx="658368" cy="310896"/>
          </a:xfrm>
          <a:prstGeom prst="roundRect">
            <a:avLst/>
          </a:prstGeom>
          <a:solidFill>
            <a:srgbClr val="FFF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87568" y="4608576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9A6900"/>
                </a:solidFill>
                <a:latin typeface="Liberation Sans"/>
              </a:rPr>
              <a:t>MED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4553712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0B1F33"/>
                </a:solidFill>
                <a:latin typeface="Liberation Sans"/>
              </a:rPr>
              <a:t>Trust custody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45552" y="4553712"/>
            <a:ext cx="34564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386"/>
                </a:solidFill>
                <a:latin typeface="Liberation Sans"/>
              </a:rPr>
              <a:t>Authority controls marks; demo keys co-located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4910328"/>
            <a:ext cx="4791456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087E73"/>
                </a:solidFill>
                <a:latin typeface="Liberation Sans"/>
              </a:rPr>
              <a:t>GATE  Buyer-involved protocol; HSM keys; separate peers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541264" y="5431536"/>
            <a:ext cx="5980176" cy="274320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96128" y="5458968"/>
            <a:ext cx="58704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95555"/>
                </a:solidFill>
                <a:latin typeface="Liberation Sans"/>
              </a:rPr>
              <a:t>Code theorem is conditional: it is never transferred silently to a carrier attack.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" y="182880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Liberation Sans"/>
              </a:rPr>
              <a:t>IMPACT AND BENEFITS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758952"/>
            <a:ext cx="1389888" cy="310896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768096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E73"/>
                </a:solidFill>
                <a:latin typeface="Liberation Sans"/>
              </a:rPr>
              <a:t>[TEAM NAME]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115568"/>
            <a:ext cx="11045952" cy="109728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1344168"/>
            <a:ext cx="2057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4B942"/>
                </a:solidFill>
                <a:latin typeface="Liberation Sans"/>
              </a:rPr>
              <a:t>TARGET 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1627632"/>
            <a:ext cx="25603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FFFFFF"/>
                </a:solidFill>
                <a:latin typeface="Liberation Sans"/>
              </a:rPr>
              <a:t>Defence document controller &amp; leak investigator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1344168"/>
            <a:ext cx="1463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4B942"/>
                </a:solidFill>
                <a:latin typeface="Liberation Sans"/>
              </a:rPr>
              <a:t>DECISION IMPROVED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1627632"/>
            <a:ext cx="729691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Liberation Sans"/>
              </a:rPr>
              <a:t>“Which authorized decryption session produced this leak, and what verifiable evidence supports it?”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468880"/>
            <a:ext cx="2596896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578608"/>
            <a:ext cx="56692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B8A6"/>
                </a:solidFill>
                <a:latin typeface="Liberation Sans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587752"/>
            <a:ext cx="17556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B1F33"/>
                </a:solidFill>
                <a:latin typeface="Liberation Sans"/>
              </a:rPr>
              <a:t>Operational accountability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2953512"/>
            <a:ext cx="23042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17386"/>
                </a:solidFill>
                <a:latin typeface="Liberation Sans"/>
              </a:rPr>
              <a:t>Moves an investigation from an entire distribution list to one or more signed sessions.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2468880"/>
            <a:ext cx="2596896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2578608"/>
            <a:ext cx="56692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B8A6"/>
                </a:solidFill>
                <a:latin typeface="Liberation Sans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6512" y="2587752"/>
            <a:ext cx="17556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B1F33"/>
                </a:solidFill>
                <a:latin typeface="Liberation Sans"/>
              </a:rPr>
              <a:t>Air-gap compatible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9584" y="2953512"/>
            <a:ext cx="23042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17386"/>
                </a:solidFill>
                <a:latin typeface="Liberation Sans"/>
              </a:rPr>
              <a:t>No cloud KMS, hosted API, public blockchain, token or internet dependency.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2468880"/>
            <a:ext cx="2596896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2578608"/>
            <a:ext cx="56692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4B942"/>
                </a:solidFill>
                <a:latin typeface="Liberation San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12864" y="2587752"/>
            <a:ext cx="17556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B1F33"/>
                </a:solidFill>
                <a:latin typeface="Liberation Sans"/>
              </a:rPr>
              <a:t>Post-quantum migration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5936" y="2953512"/>
            <a:ext cx="23042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17386"/>
                </a:solidFill>
                <a:latin typeface="Liberation Sans"/>
              </a:rPr>
              <a:t>Uses standardized ML-KEM and ML-DSA at the key-delivery and receipt layers.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15984" y="2468880"/>
            <a:ext cx="2596896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2578608"/>
            <a:ext cx="56692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B8A6"/>
                </a:solidFill>
                <a:latin typeface="Liberation Sans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9215" y="2587752"/>
            <a:ext cx="17556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B1F33"/>
                </a:solidFill>
                <a:latin typeface="Liberation Sans"/>
              </a:rPr>
              <a:t>Controlled adoption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2953512"/>
            <a:ext cx="23042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17386"/>
                </a:solidFill>
                <a:latin typeface="Liberation Sans"/>
              </a:rPr>
              <a:t>Integrates as a viewer + SDK around existing document repositories and access policy.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" y="3767328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1F33"/>
                </a:solidFill>
                <a:latin typeface="Liberation Sans"/>
              </a:rPr>
              <a:t>ADOPTION AND SCALE PATH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3504" y="4151376"/>
            <a:ext cx="3474720" cy="1389888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68096" y="4306824"/>
            <a:ext cx="1188720" cy="310896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" y="43159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Liberation Sans"/>
              </a:rPr>
              <a:t>PILOT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" y="4709160"/>
            <a:ext cx="31455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1F33"/>
                </a:solidFill>
                <a:latin typeface="Liberation Sans"/>
              </a:rPr>
              <a:t>25 users · synthetic/unclassified corpus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" y="5038344"/>
            <a:ext cx="31455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17386"/>
                </a:solidFill>
                <a:latin typeface="Liberation Sans"/>
              </a:rPr>
              <a:t>SUCCESS: Trace rate, false accusation, latency</a:t>
            </a:r>
          </a:p>
        </p:txBody>
      </p:sp>
      <p:sp>
        <p:nvSpPr>
          <p:cNvPr id="42" name="Chevron 41"/>
          <p:cNvSpPr/>
          <p:nvPr/>
        </p:nvSpPr>
        <p:spPr>
          <a:xfrm>
            <a:off x="4133087" y="4672584"/>
            <a:ext cx="155448" cy="256032"/>
          </a:xfrm>
          <a:prstGeom prst="chevron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334256" y="4151376"/>
            <a:ext cx="3474720" cy="1389888"/>
          </a:xfrm>
          <a:prstGeom prst="roundRect">
            <a:avLst/>
          </a:prstGeom>
          <a:solidFill>
            <a:srgbClr val="FFF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498848" y="4306824"/>
            <a:ext cx="1188720" cy="310896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98848" y="43159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Liberation Sans"/>
              </a:rPr>
              <a:t>SECURE ENCLAVE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98848" y="4709160"/>
            <a:ext cx="31455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1F33"/>
                </a:solidFill>
                <a:latin typeface="Liberation Sans"/>
              </a:rPr>
              <a:t>Separate validators · offline CA · HSM keys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98848" y="5038344"/>
            <a:ext cx="31455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17386"/>
                </a:solidFill>
                <a:latin typeface="Liberation Sans"/>
              </a:rPr>
              <a:t>SUCCESS: Print-scan and coalition attack matrix</a:t>
            </a:r>
          </a:p>
        </p:txBody>
      </p:sp>
      <p:sp>
        <p:nvSpPr>
          <p:cNvPr id="48" name="Chevron 47"/>
          <p:cNvSpPr/>
          <p:nvPr/>
        </p:nvSpPr>
        <p:spPr>
          <a:xfrm>
            <a:off x="7863840" y="4672584"/>
            <a:ext cx="155448" cy="256032"/>
          </a:xfrm>
          <a:prstGeom prst="chevron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065008" y="4151376"/>
            <a:ext cx="3474720" cy="1389888"/>
          </a:xfrm>
          <a:prstGeom prst="round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229600" y="4306824"/>
            <a:ext cx="1188720" cy="310896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0" y="43159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Liberation Sans"/>
              </a:rPr>
              <a:t>ENTERPRISE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4709160"/>
            <a:ext cx="31455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1F33"/>
                </a:solidFill>
                <a:latin typeface="Liberation Sans"/>
              </a:rPr>
              <a:t>Existing DMS connectors · audited Fabric network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5038344"/>
            <a:ext cx="31455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17386"/>
                </a:solidFill>
                <a:latin typeface="Liberation Sans"/>
              </a:rPr>
              <a:t>SUCCESS: Policy, monitoring and revocation at scale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928" y="182880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Liberation Sans"/>
              </a:rPr>
              <a:t>RESEARCH  AND REFERENCES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758952"/>
            <a:ext cx="1389888" cy="310896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768096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E73"/>
                </a:solidFill>
                <a:latin typeface="Liberation Sans"/>
              </a:rPr>
              <a:t>[TEAM NAME]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1069848"/>
            <a:ext cx="54132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>
                <a:solidFill>
                  <a:srgbClr val="0B1F33"/>
                </a:solidFill>
                <a:latin typeface="Liberation Sans"/>
              </a:rPr>
              <a:t>PRIMARY SOURCES &amp; FOUNDATIONAL WORK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1481328"/>
            <a:ext cx="256032" cy="256032"/>
          </a:xfrm>
          <a:prstGeom prst="ellipse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1481328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1463040"/>
            <a:ext cx="500176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0B1F33"/>
                </a:solidFill>
                <a:latin typeface="Liberation Sans"/>
              </a:rPr>
              <a:t>SIH26237 + SIH 2026 official guidelines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1682496"/>
            <a:ext cx="5001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17386"/>
                </a:solidFill>
                <a:latin typeface="Liberation Sans"/>
              </a:rPr>
              <a:t>sih.gov.in/sih2026PS · /letters/SIH2026-Guidelines-College-SPOC.pdf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" y="2066544"/>
            <a:ext cx="256032" cy="256032"/>
          </a:xfrm>
          <a:prstGeom prst="ellipse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06654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2048256"/>
            <a:ext cx="500176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0B1F33"/>
                </a:solidFill>
                <a:latin typeface="Liberation Sans"/>
              </a:rPr>
              <a:t>NIST FIPS 203 / 204 — ML-KEM / ML-DSA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2267712"/>
            <a:ext cx="5001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17386"/>
                </a:solidFill>
                <a:latin typeface="Liberation Sans"/>
              </a:rPr>
              <a:t>csrc.nist.gov/pubs/fips/203/final · /fips/204/final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" y="2651760"/>
            <a:ext cx="256032" cy="256032"/>
          </a:xfrm>
          <a:prstGeom prst="ellipse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265176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2633472"/>
            <a:ext cx="500176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0B1F33"/>
                </a:solidFill>
                <a:latin typeface="Liberation Sans"/>
              </a:rPr>
              <a:t>Wang et al. — T-Tracer (BSCI / ACM, 2022)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2852928"/>
            <a:ext cx="5001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17386"/>
                </a:solidFill>
                <a:latin typeface="Liberation Sans"/>
              </a:rPr>
              <a:t>doi.org/10.1145/3494106.3528674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" y="3236976"/>
            <a:ext cx="256032" cy="256032"/>
          </a:xfrm>
          <a:prstGeom prst="ellipse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23697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Liberation San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3218688"/>
            <a:ext cx="500176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0B1F33"/>
                </a:solidFill>
                <a:latin typeface="Liberation Sans"/>
              </a:rPr>
              <a:t>Tardos — optimal probabilistic fingerprint codes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" y="3438144"/>
            <a:ext cx="5001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17386"/>
                </a:solidFill>
                <a:latin typeface="Liberation Sans"/>
              </a:rPr>
              <a:t>renyi.hu/~tardos/fingerprint.pdf</a:t>
            </a:r>
          </a:p>
        </p:txBody>
      </p:sp>
      <p:sp>
        <p:nvSpPr>
          <p:cNvPr id="33" name="Oval 32"/>
          <p:cNvSpPr/>
          <p:nvPr/>
        </p:nvSpPr>
        <p:spPr>
          <a:xfrm>
            <a:off x="658368" y="3822192"/>
            <a:ext cx="256032" cy="256032"/>
          </a:xfrm>
          <a:prstGeom prst="ellipse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82219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Liberation San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" y="3803904"/>
            <a:ext cx="500176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0B1F33"/>
                </a:solidFill>
                <a:latin typeface="Liberation Sans"/>
              </a:rPr>
              <a:t>Brassil et al. — text-layout document marking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" y="4023360"/>
            <a:ext cx="5001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17386"/>
                </a:solidFill>
                <a:latin typeface="Liberation Sans"/>
              </a:rPr>
              <a:t>doi.org/10.1109/49.464718</a:t>
            </a:r>
          </a:p>
        </p:txBody>
      </p:sp>
      <p:sp>
        <p:nvSpPr>
          <p:cNvPr id="37" name="Oval 36"/>
          <p:cNvSpPr/>
          <p:nvPr/>
        </p:nvSpPr>
        <p:spPr>
          <a:xfrm>
            <a:off x="658368" y="4407408"/>
            <a:ext cx="256032" cy="256032"/>
          </a:xfrm>
          <a:prstGeom prst="ellipse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407408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Liberation San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" y="4389120"/>
            <a:ext cx="500176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0B1F33"/>
                </a:solidFill>
                <a:latin typeface="Liberation Sans"/>
              </a:rPr>
              <a:t>Lu/Liao dual marks · Barreto et al. transplant attack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" y="4608576"/>
            <a:ext cx="5001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17386"/>
                </a:solidFill>
                <a:latin typeface="Liberation Sans"/>
              </a:rPr>
              <a:t>doi.org/10.1109/83.951542 · doi.org/10.1109/ICIP.2001.958536</a:t>
            </a:r>
          </a:p>
        </p:txBody>
      </p:sp>
      <p:sp>
        <p:nvSpPr>
          <p:cNvPr id="41" name="Oval 40"/>
          <p:cNvSpPr/>
          <p:nvPr/>
        </p:nvSpPr>
        <p:spPr>
          <a:xfrm>
            <a:off x="658368" y="4992624"/>
            <a:ext cx="256032" cy="256032"/>
          </a:xfrm>
          <a:prstGeom prst="ellipse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499262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Liberation Sans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" y="4974336"/>
            <a:ext cx="500176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0B1F33"/>
                </a:solidFill>
                <a:latin typeface="Liberation Sans"/>
              </a:rPr>
              <a:t>Working prototype + reproducible evidence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" y="5193792"/>
            <a:ext cx="5001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17386"/>
                </a:solidFill>
                <a:latin typeface="Liberation Sans"/>
              </a:rPr>
              <a:t>[INSERT PUBLIC REPOSITORY LINK BEFORE UPLOAD]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54496" y="1088136"/>
            <a:ext cx="5330952" cy="4498848"/>
          </a:xfrm>
          <a:prstGeom prst="round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10528" y="1362456"/>
            <a:ext cx="4809744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Liberation Sans"/>
              </a:rPr>
              <a:t>PRIOR-ART BOUNDARY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10528" y="1810512"/>
            <a:ext cx="482803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11696" y="1993392"/>
            <a:ext cx="4425696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617386"/>
                </a:solidFill>
                <a:latin typeface="Liberation Sans"/>
              </a:rPr>
              <a:t>KNOWN / PRESCRIBED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11696" y="2386584"/>
            <a:ext cx="4425696" cy="4663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172A3A"/>
                </a:solidFill>
                <a:latin typeface="Liberation Sans"/>
              </a:rPr>
              <a:t>Tardos, layout marks, dual watermarking and transplant attacks already exist; SIH26237 prescribes PQ signatures + DLT.</a:t>
            </a:r>
          </a:p>
        </p:txBody>
      </p:sp>
      <p:sp>
        <p:nvSpPr>
          <p:cNvPr id="50" name="Chevron 49"/>
          <p:cNvSpPr/>
          <p:nvPr/>
        </p:nvSpPr>
        <p:spPr>
          <a:xfrm>
            <a:off x="8714232" y="3236976"/>
            <a:ext cx="329184" cy="265176"/>
          </a:xfrm>
          <a:prstGeom prst="chevron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510528" y="3611880"/>
            <a:ext cx="4828032" cy="1490472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11696" y="3803904"/>
            <a:ext cx="4425696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087E73"/>
                </a:solidFill>
                <a:latin typeface="Liberation Sans"/>
              </a:rPr>
              <a:t>OUR MEASURED CONTRIBUTION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11696" y="4178808"/>
            <a:ext cx="4425696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0B1F33"/>
                </a:solidFill>
                <a:latin typeface="Liberation Sans"/>
              </a:rPr>
              <a:t>Conflict-aware dual-domain evidence: Tardos + HMAC layout identities share one signed session; editable PDFs require agreement and transplants abstain.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28816" y="5230368"/>
            <a:ext cx="4773168" cy="310896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28816" y="5239512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FFFFFF"/>
                </a:solidFill>
                <a:latin typeface="Liberation Sans"/>
              </a:rPr>
              <a:t>Known gate: real print/photo matrix + content-bound carrier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NISHAN-PQ — SIH26237 Idea Submission</dc:title>
  <dc:subject>Smart India Hackathon 2026</dc:subject>
  <dc:creator>[ENTER REGISTERED TEAM NAME]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